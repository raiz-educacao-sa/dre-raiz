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0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2937"/>
                </a:solidFill>
                <a:latin typeface="Arial"/>
              </a:rPr>
              <a:t>Receita e EBITDA (R$ 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rgbClr val="1B75B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Receita Total</c:v>
                  </c:pt>
                  <c:pt idx="1">
                    <c:v>EBITDA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74.5</c:v>
                </c:pt>
                <c:pt idx="1">
                  <c:v>18.5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Plano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Receita Total</c:v>
                  </c:pt>
                  <c:pt idx="1">
                    <c:v>EBITDA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72.2</c:v>
                </c:pt>
                <c:pt idx="1">
                  <c:v>16.3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Ano Anterior</c:v>
                </c:pt>
              </c:strCache>
            </c:strRef>
          </c:tx>
          <c:spPr>
            <a:solidFill>
              <a:srgbClr val="7AC5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Receita Total</c:v>
                  </c:pt>
                  <c:pt idx="1">
                    <c:v>EBITDA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73.2</c:v>
                </c:pt>
                <c:pt idx="1">
                  <c:v>17.8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2937"/>
                </a:solidFill>
                <a:latin typeface="Arial"/>
              </a:rPr>
              <a:t>Margem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rgbClr val="1B75B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Margem Liquida (%)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25.3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Plano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Margem Liquida (%)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Ano Anterior</c:v>
                </c:pt>
              </c:strCache>
            </c:strRef>
          </c:tx>
          <c:spPr>
            <a:solidFill>
              <a:srgbClr val="7AC5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Margem Liquida (%)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24.3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2937"/>
                </a:solidFill>
                <a:latin typeface="Arial"/>
              </a:rPr>
              <a:t>Custo/Aluno (R$)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rgbClr val="1B75B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Custo/Aluno (R$)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4850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Plano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Custo/Aluno (R$)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4950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Ano Anterior</c:v>
                </c:pt>
              </c:strCache>
            </c:strRef>
          </c:tx>
          <c:spPr>
            <a:solidFill>
              <a:srgbClr val="7AC5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Custo/Aluno (R$)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4920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0"/>
          <c:min val="47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2937"/>
                </a:solidFill>
                <a:latin typeface="Arial"/>
              </a:rPr>
              <a:t>Evolucao de Receita e EBITDA - Rolling 12 Meses (R$ M)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 (R$ M)</c:v>
                </c:pt>
              </c:strCache>
            </c:strRef>
          </c:tx>
          <c:spPr>
            <a:solidFill>
              <a:srgbClr val="1B75BB"/>
            </a:solidFill>
            <a:ln w="38100" cap="flat">
              <a:solidFill>
                <a:srgbClr val="1B75B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75BB"/>
              </a:solidFill>
              <a:ln w="9525" cap="flat">
                <a:solidFill>
                  <a:srgbClr val="1B75B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Fev/25</c:v>
                  </c:pt>
                  <c:pt idx="1">
                    <c:v>Mar/25</c:v>
                  </c:pt>
                  <c:pt idx="2">
                    <c:v>Abr/25</c:v>
                  </c:pt>
                  <c:pt idx="3">
                    <c:v>Mai/25</c:v>
                  </c:pt>
                  <c:pt idx="4">
                    <c:v>Jun/25</c:v>
                  </c:pt>
                  <c:pt idx="5">
                    <c:v>Jul/25</c:v>
                  </c:pt>
                  <c:pt idx="6">
                    <c:v>Ago/25</c:v>
                  </c:pt>
                  <c:pt idx="7">
                    <c:v>Set/25</c:v>
                  </c:pt>
                  <c:pt idx="8">
                    <c:v>Out/25</c:v>
                  </c:pt>
                  <c:pt idx="9">
                    <c:v>Nov/25</c:v>
                  </c:pt>
                  <c:pt idx="10">
                    <c:v>Dez/25</c:v>
                  </c:pt>
                  <c:pt idx="11">
                    <c:v>Jan/26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68.2</c:v>
                </c:pt>
                <c:pt idx="1">
                  <c:v>69.5</c:v>
                </c:pt>
                <c:pt idx="2">
                  <c:v>70.1</c:v>
                </c:pt>
                <c:pt idx="3">
                  <c:v>71.8</c:v>
                </c:pt>
                <c:pt idx="4">
                  <c:v>72.5</c:v>
                </c:pt>
                <c:pt idx="5">
                  <c:v>73.2</c:v>
                </c:pt>
                <c:pt idx="6">
                  <c:v>73.8</c:v>
                </c:pt>
                <c:pt idx="7">
                  <c:v>74.1</c:v>
                </c:pt>
                <c:pt idx="8">
                  <c:v>74.5</c:v>
                </c:pt>
                <c:pt idx="9">
                  <c:v>73.9</c:v>
                </c:pt>
                <c:pt idx="10">
                  <c:v>73.2</c:v>
                </c:pt>
                <c:pt idx="11">
                  <c:v>74.5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(R$ M)</c:v>
                </c:pt>
              </c:strCache>
            </c:strRef>
          </c:tx>
          <c:spPr>
            <a:solidFill>
              <a:srgbClr val="F44C00"/>
            </a:solidFill>
            <a:ln w="38100" cap="flat">
              <a:solidFill>
                <a:srgbClr val="F44C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44C00"/>
              </a:solidFill>
              <a:ln w="9525" cap="flat">
                <a:solidFill>
                  <a:srgbClr val="F44C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Fev/25</c:v>
                  </c:pt>
                  <c:pt idx="1">
                    <c:v>Mar/25</c:v>
                  </c:pt>
                  <c:pt idx="2">
                    <c:v>Abr/25</c:v>
                  </c:pt>
                  <c:pt idx="3">
                    <c:v>Mai/25</c:v>
                  </c:pt>
                  <c:pt idx="4">
                    <c:v>Jun/25</c:v>
                  </c:pt>
                  <c:pt idx="5">
                    <c:v>Jul/25</c:v>
                  </c:pt>
                  <c:pt idx="6">
                    <c:v>Ago/25</c:v>
                  </c:pt>
                  <c:pt idx="7">
                    <c:v>Set/25</c:v>
                  </c:pt>
                  <c:pt idx="8">
                    <c:v>Out/25</c:v>
                  </c:pt>
                  <c:pt idx="9">
                    <c:v>Nov/25</c:v>
                  </c:pt>
                  <c:pt idx="10">
                    <c:v>Dez/25</c:v>
                  </c:pt>
                  <c:pt idx="11">
                    <c:v>Jan/26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15.2</c:v>
                </c:pt>
                <c:pt idx="1">
                  <c:v>15.8</c:v>
                </c:pt>
                <c:pt idx="2">
                  <c:v>16.1</c:v>
                </c:pt>
                <c:pt idx="3">
                  <c:v>16.9</c:v>
                </c:pt>
                <c:pt idx="4">
                  <c:v>17.2</c:v>
                </c:pt>
                <c:pt idx="5">
                  <c:v>17.5</c:v>
                </c:pt>
                <c:pt idx="6">
                  <c:v>17.8</c:v>
                </c:pt>
                <c:pt idx="7">
                  <c:v>18</c:v>
                </c:pt>
                <c:pt idx="8">
                  <c:v>18.2</c:v>
                </c:pt>
                <c:pt idx="9">
                  <c:v>18.1</c:v>
                </c:pt>
                <c:pt idx="10">
                  <c:v>17.8</c:v>
                </c:pt>
                <c:pt idx="11">
                  <c:v>18.5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1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2937"/>
                </a:solidFill>
                <a:latin typeface="Arial"/>
              </a:rPr>
              <a:t>Ponte de EBITDA: Orcado -&gt; Real (R$ 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EBITDA Orcado</c:v>
                  </c:pt>
                  <c:pt idx="1">
                    <c:v>Var. Receita</c:v>
                  </c:pt>
                  <c:pt idx="2">
                    <c:v>Custos Variaveis</c:v>
                  </c:pt>
                  <c:pt idx="3">
                    <c:v>Custos Fixos</c:v>
                  </c:pt>
                  <c:pt idx="4">
                    <c:v>SG&amp;A</c:v>
                  </c:pt>
                  <c:pt idx="5">
                    <c:v>EBITDA Real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16.3</c:v>
                </c:pt>
                <c:pt idx="2">
                  <c:v>18.6</c:v>
                </c:pt>
                <c:pt idx="3">
                  <c:v>18.3</c:v>
                </c:pt>
                <c:pt idx="4">
                  <c:v>18.3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Positivo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EBITDA Orcado</c:v>
                  </c:pt>
                  <c:pt idx="1">
                    <c:v>Var. Receita</c:v>
                  </c:pt>
                  <c:pt idx="2">
                    <c:v>Custos Variaveis</c:v>
                  </c:pt>
                  <c:pt idx="3">
                    <c:v>Custos Fixos</c:v>
                  </c:pt>
                  <c:pt idx="4">
                    <c:v>SG&amp;A</c:v>
                  </c:pt>
                  <c:pt idx="5">
                    <c:v>EBITDA Real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16.3</c:v>
                </c:pt>
                <c:pt idx="1">
                  <c:v>2.3</c:v>
                </c:pt>
                <c:pt idx="2">
                  <c:v>0.8</c:v>
                </c:pt>
                <c:pt idx="3">
                  <c:v>0</c:v>
                </c:pt>
                <c:pt idx="4">
                  <c:v>0.2</c:v>
                </c:pt>
                <c:pt idx="5">
                  <c:v>18.5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Negativo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EBITDA Orcado</c:v>
                  </c:pt>
                  <c:pt idx="1">
                    <c:v>Var. Receita</c:v>
                  </c:pt>
                  <c:pt idx="2">
                    <c:v>Custos Variaveis</c:v>
                  </c:pt>
                  <c:pt idx="3">
                    <c:v>Custos Fixos</c:v>
                  </c:pt>
                  <c:pt idx="4">
                    <c:v>SG&amp;A</c:v>
                  </c:pt>
                  <c:pt idx="5">
                    <c:v>EBITDA Real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1.1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2937"/>
                </a:solidFill>
                <a:latin typeface="Arial"/>
              </a:rPr>
              <a:t>Variacoes de Custo vs Orcamento (R$ mil)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Variacao (R$ K)</c:v>
                </c:pt>
              </c:strCache>
            </c:strRef>
          </c:tx>
          <c:spPr>
            <a:solidFill>
              <a:srgbClr val="F44C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Energia Eletrica</c:v>
                  </c:pt>
                  <c:pt idx="1">
                    <c:v>Material Didatico</c:v>
                  </c:pt>
                  <c:pt idx="2">
                    <c:v>Pessoal Temporario</c:v>
                  </c:pt>
                  <c:pt idx="3">
                    <c:v>Manutencao Predial</c:v>
                  </c:pt>
                  <c:pt idx="4">
                    <c:v>Limpeza e Conserv.</c:v>
                  </c:pt>
                  <c:pt idx="5">
                    <c:v>Seguranca</c:v>
                  </c:pt>
                  <c:pt idx="6">
                    <c:v>Tecnologia</c:v>
                  </c:pt>
                  <c:pt idx="7">
                    <c:v>Marketing</c:v>
                  </c:pt>
                  <c:pt idx="8">
                    <c:v>Alimentacao</c:v>
                  </c:pt>
                  <c:pt idx="9">
                    <c:v>Transporte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450</c:v>
                </c:pt>
                <c:pt idx="1">
                  <c:v>-320</c:v>
                </c:pt>
                <c:pt idx="2">
                  <c:v>280</c:v>
                </c:pt>
                <c:pt idx="3">
                  <c:v>180</c:v>
                </c:pt>
                <c:pt idx="4">
                  <c:v>150</c:v>
                </c:pt>
                <c:pt idx="5">
                  <c:v>120</c:v>
                </c:pt>
                <c:pt idx="6">
                  <c:v>-95</c:v>
                </c:pt>
                <c:pt idx="7">
                  <c:v>85</c:v>
                </c:pt>
                <c:pt idx="8">
                  <c:v>75</c:v>
                </c:pt>
                <c:pt idx="9">
                  <c:v>-60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"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2937"/>
                </a:solidFill>
                <a:latin typeface="Arial"/>
              </a:rPr>
              <a:t>Custos por Categoria (R$ M)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Categoria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75BB"/>
              </a:solidFill>
              <a:effectLst/>
            </c:spPr>
          </c:dPt>
          <c:dPt>
            <c:idx val="1"/>
            <c:bubble3D val="0"/>
            <c:spPr>
              <a:solidFill>
                <a:srgbClr val="F44C00"/>
              </a:solidFill>
              <a:effectLst/>
            </c:spPr>
          </c:dPt>
          <c:dPt>
            <c:idx val="2"/>
            <c:bubble3D val="0"/>
            <c:spPr>
              <a:solidFill>
                <a:srgbClr val="7AC5BF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bubble3D val="0"/>
            <c:spPr>
              <a:solidFill>
                <a:srgbClr val="8B5CF6"/>
              </a:solidFill>
              <a:effectLst/>
            </c:spPr>
          </c:dPt>
          <c:dPt>
            <c:idx val="5"/>
            <c:bubble3D val="0"/>
            <c:spPr>
              <a:solidFill>
                <a:srgbClr val="EC4899"/>
              </a:solidFill>
              <a:effectLst/>
            </c:spPr>
          </c:dPt>
          <c:dPt>
            <c:idx val="6"/>
            <c:bubble3D val="0"/>
            <c:spPr>
              <a:solidFill>
                <a:srgbClr val="10B981"/>
              </a:solidFill>
              <a:effectLst/>
            </c:spPr>
          </c:dPt>
          <c:dPt>
            <c:idx val="7"/>
            <c:bubble3D val="0"/>
            <c:spPr>
              <a:solidFill>
                <a:srgbClr val="6366F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Folha Docente</c:v>
                </c:pt>
                <c:pt idx="1">
                  <c:v>Folha Admin.</c:v>
                </c:pt>
                <c:pt idx="2">
                  <c:v>Energia</c:v>
                </c:pt>
                <c:pt idx="3">
                  <c:v>Material</c:v>
                </c:pt>
                <c:pt idx="4">
                  <c:v>Manutencao</c:v>
                </c:pt>
                <c:pt idx="5">
                  <c:v>TI</c:v>
                </c:pt>
                <c:pt idx="6">
                  <c:v>Marketing</c:v>
                </c:pt>
                <c:pt idx="7">
                  <c:v>Outros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41.2</c:v>
                </c:pt>
                <c:pt idx="1">
                  <c:v>12.5</c:v>
                </c:pt>
                <c:pt idx="2">
                  <c:v>1.7</c:v>
                </c:pt>
                <c:pt idx="3">
                  <c:v>3.8</c:v>
                </c:pt>
                <c:pt idx="4">
                  <c:v>2.1</c:v>
                </c:pt>
                <c:pt idx="5">
                  <c:v>1.9</c:v>
                </c:pt>
                <c:pt idx="6">
                  <c:v>1.5</c:v>
                </c:pt>
                <c:pt idx="7">
                  <c:v>5.3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2937"/>
                </a:solidFill>
                <a:latin typeface="Arial"/>
              </a:rPr>
              <a:t>Margem por Marca (%)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Marca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75BB"/>
              </a:solidFill>
              <a:effectLst/>
            </c:spPr>
          </c:dPt>
          <c:dPt>
            <c:idx val="1"/>
            <c:bubble3D val="0"/>
            <c:spPr>
              <a:solidFill>
                <a:srgbClr val="F44C00"/>
              </a:solidFill>
              <a:effectLst/>
            </c:spPr>
          </c:dPt>
          <c:dPt>
            <c:idx val="2"/>
            <c:bubble3D val="0"/>
            <c:spPr>
              <a:solidFill>
                <a:srgbClr val="7AC5BF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bubble3D val="0"/>
            <c:spPr>
              <a:solidFill>
                <a:srgbClr val="8B5CF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93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93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93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93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93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Marca A</c:v>
                </c:pt>
                <c:pt idx="1">
                  <c:v>Marca B</c:v>
                </c:pt>
                <c:pt idx="2">
                  <c:v>Marca C</c:v>
                </c:pt>
                <c:pt idx="3">
                  <c:v>Marca D</c:v>
                </c:pt>
                <c:pt idx="4">
                  <c:v>Marca E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28.5</c:v>
                </c:pt>
                <c:pt idx="1">
                  <c:v>22.1</c:v>
                </c:pt>
                <c:pt idx="2">
                  <c:v>19.8</c:v>
                </c:pt>
                <c:pt idx="3">
                  <c:v>17.3</c:v>
                </c:pt>
                <c:pt idx="4">
                  <c:v>12.3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2937"/>
                </a:solidFill>
                <a:latin typeface="Arial"/>
              </a:rPr>
              <a:t>Evolucao Acumulada R12M (R$ M)</a:t>
            </a:r>
          </a:p>
        </c:rich>
      </c:tx>
      <c:layout/>
      <c:overlay val="0"/>
    </c:title>
    <c:autoTitleDeleted val="0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 Acumulada (R$ M)</c:v>
                </c:pt>
              </c:strCache>
            </c:strRef>
          </c:tx>
          <c:spPr>
            <a:solidFill>
              <a:srgbClr val="1B75B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Fev/25</c:v>
                  </c:pt>
                  <c:pt idx="1">
                    <c:v>Mar/25</c:v>
                  </c:pt>
                  <c:pt idx="2">
                    <c:v>Abr/25</c:v>
                  </c:pt>
                  <c:pt idx="3">
                    <c:v>Mai/25</c:v>
                  </c:pt>
                  <c:pt idx="4">
                    <c:v>Jun/25</c:v>
                  </c:pt>
                  <c:pt idx="5">
                    <c:v>Jul/25</c:v>
                  </c:pt>
                  <c:pt idx="6">
                    <c:v>Ago/25</c:v>
                  </c:pt>
                  <c:pt idx="7">
                    <c:v>Set/25</c:v>
                  </c:pt>
                  <c:pt idx="8">
                    <c:v>Out/25</c:v>
                  </c:pt>
                  <c:pt idx="9">
                    <c:v>Nov/25</c:v>
                  </c:pt>
                  <c:pt idx="10">
                    <c:v>Dez/25</c:v>
                  </c:pt>
                  <c:pt idx="11">
                    <c:v>Jan/26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68.2</c:v>
                </c:pt>
                <c:pt idx="1">
                  <c:v>137.7</c:v>
                </c:pt>
                <c:pt idx="2">
                  <c:v>207.79999999999998</c:v>
                </c:pt>
                <c:pt idx="3">
                  <c:v>279.59999999999997</c:v>
                </c:pt>
                <c:pt idx="4">
                  <c:v>352.09999999999997</c:v>
                </c:pt>
                <c:pt idx="5">
                  <c:v>425.29999999999995</c:v>
                </c:pt>
                <c:pt idx="6">
                  <c:v>499.09999999999997</c:v>
                </c:pt>
                <c:pt idx="7">
                  <c:v>573.1999999999999</c:v>
                </c:pt>
                <c:pt idx="8">
                  <c:v>647.6999999999999</c:v>
                </c:pt>
                <c:pt idx="9">
                  <c:v>721.5999999999999</c:v>
                </c:pt>
                <c:pt idx="10">
                  <c:v>794.8</c:v>
                </c:pt>
                <c:pt idx="11">
                  <c:v>869.3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Acumulado (R$ M)</c:v>
                </c:pt>
              </c:strCache>
            </c:strRef>
          </c:tx>
          <c:spPr>
            <a:solidFill>
              <a:srgbClr val="7AC5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Fev/25</c:v>
                  </c:pt>
                  <c:pt idx="1">
                    <c:v>Mar/25</c:v>
                  </c:pt>
                  <c:pt idx="2">
                    <c:v>Abr/25</c:v>
                  </c:pt>
                  <c:pt idx="3">
                    <c:v>Mai/25</c:v>
                  </c:pt>
                  <c:pt idx="4">
                    <c:v>Jun/25</c:v>
                  </c:pt>
                  <c:pt idx="5">
                    <c:v>Jul/25</c:v>
                  </c:pt>
                  <c:pt idx="6">
                    <c:v>Ago/25</c:v>
                  </c:pt>
                  <c:pt idx="7">
                    <c:v>Set/25</c:v>
                  </c:pt>
                  <c:pt idx="8">
                    <c:v>Out/25</c:v>
                  </c:pt>
                  <c:pt idx="9">
                    <c:v>Nov/25</c:v>
                  </c:pt>
                  <c:pt idx="10">
                    <c:v>Dez/25</c:v>
                  </c:pt>
                  <c:pt idx="11">
                    <c:v>Jan/26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15.2</c:v>
                </c:pt>
                <c:pt idx="1">
                  <c:v>31</c:v>
                </c:pt>
                <c:pt idx="2">
                  <c:v>47.1</c:v>
                </c:pt>
                <c:pt idx="3">
                  <c:v>64</c:v>
                </c:pt>
                <c:pt idx="4">
                  <c:v>81.2</c:v>
                </c:pt>
                <c:pt idx="5">
                  <c:v>98.7</c:v>
                </c:pt>
                <c:pt idx="6">
                  <c:v>116.5</c:v>
                </c:pt>
                <c:pt idx="7">
                  <c:v>134.5</c:v>
                </c:pt>
                <c:pt idx="8">
                  <c:v>152.7</c:v>
                </c:pt>
                <c:pt idx="9">
                  <c:v>170.79999999999998</c:v>
                </c:pt>
                <c:pt idx="10">
                  <c:v>188.6</c:v>
                </c:pt>
                <c:pt idx="11">
                  <c:v>207.1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2937"/>
                </a:solidFill>
                <a:latin typeface="Arial"/>
              </a:rPr>
              <a:t>Receita por Marca e Segmento (R$ 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Mensalidades</c:v>
                </c:pt>
              </c:strCache>
            </c:strRef>
          </c:tx>
          <c:spPr>
            <a:solidFill>
              <a:srgbClr val="1B75B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Marca A</c:v>
                  </c:pt>
                  <c:pt idx="1">
                    <c:v>Marca B</c:v>
                  </c:pt>
                  <c:pt idx="2">
                    <c:v>Marca C</c:v>
                  </c:pt>
                  <c:pt idx="3">
                    <c:v>Marca D</c:v>
                  </c:pt>
                  <c:pt idx="4">
                    <c:v>Marca 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22.5</c:v>
                </c:pt>
                <c:pt idx="1">
                  <c:v>18.2</c:v>
                </c:pt>
                <c:pt idx="2">
                  <c:v>14.8</c:v>
                </c:pt>
                <c:pt idx="3">
                  <c:v>11.5</c:v>
                </c:pt>
                <c:pt idx="4">
                  <c:v>7.5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Matriculas</c:v>
                </c:pt>
              </c:strCache>
            </c:strRef>
          </c:tx>
          <c:spPr>
            <a:solidFill>
              <a:srgbClr val="F44C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Marca A</c:v>
                  </c:pt>
                  <c:pt idx="1">
                    <c:v>Marca B</c:v>
                  </c:pt>
                  <c:pt idx="2">
                    <c:v>Marca C</c:v>
                  </c:pt>
                  <c:pt idx="3">
                    <c:v>Marca D</c:v>
                  </c:pt>
                  <c:pt idx="4">
                    <c:v>Marca 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3.2</c:v>
                </c:pt>
                <c:pt idx="1">
                  <c:v>2.8</c:v>
                </c:pt>
                <c:pt idx="2">
                  <c:v>2.1</c:v>
                </c:pt>
                <c:pt idx="3">
                  <c:v>1.6</c:v>
                </c:pt>
                <c:pt idx="4">
                  <c:v>0.9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Servicos Extras</c:v>
                </c:pt>
              </c:strCache>
            </c:strRef>
          </c:tx>
          <c:spPr>
            <a:solidFill>
              <a:srgbClr val="7AC5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Marca A</c:v>
                  </c:pt>
                  <c:pt idx="1">
                    <c:v>Marca B</c:v>
                  </c:pt>
                  <c:pt idx="2">
                    <c:v>Marca C</c:v>
                  </c:pt>
                  <c:pt idx="3">
                    <c:v>Marca D</c:v>
                  </c:pt>
                  <c:pt idx="4">
                    <c:v>Marca E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1.5</c:v>
                </c:pt>
                <c:pt idx="1">
                  <c:v>1.2</c:v>
                </c:pt>
                <c:pt idx="2">
                  <c:v>0.8</c:v>
                </c:pt>
                <c:pt idx="3">
                  <c:v>0.5</c:v>
                </c:pt>
                <c:pt idx="4">
                  <c:v>0.3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75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7AC5B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Analise Financeira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RAIZ EDUCACAO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Janeiro/2026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Consolidado - Todas as Marcas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Gerado em 30 de janeiro de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603504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IA  |  DRE RAIZ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"/>
            <a:ext cx="12188952" cy="640080"/>
          </a:xfrm>
          <a:prstGeom prst="rect">
            <a:avLst/>
          </a:prstGeom>
          <a:solidFill>
            <a:srgbClr val="1B75B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Sumario Executivo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destaques do periodo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4552" cy="7315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4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financeira solida com oportunidades de otimizacao de custos operacionais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Destaques Positivos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Receita acima do planejado em R$ 2.3M (3.2%), demonstrando forte captacao de alunos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EBITDA de R$ 18.5M representa margem de 25.3%, superando o target de 22%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Custos variaveis sob controle, com destaque para reducao de 8% em material didatico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Inadimplencia em 4.2%, dentro do patamar aceitavel para o setor educacional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Riscos e Atencoes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274320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Despesas com energia eletrica 15% acima do orcado devido ao aumento tarifario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Turnover de professores aumentou para 12%, impactando qualidade e custos de treinamento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Investimento em infraestrutura tecnologica atrasado, pode comprometer diferenciacao competitiva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754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5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2120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Renegociacao de contratos de fornecedores pode gerar economia anual de R$ 800K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Expansao de turmas noturnas tem demanda reprimida e pode adicionar R$ 1.2M em receita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Digitalizacao de processos administrativos pode reduzir custos SG&amp;A em ate 10%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6309360"/>
            <a:ext cx="11274552" cy="1828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RAIZ EDUCACAO  |  Janeiro/2026  |  Consolidado - Todas as Marcas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75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 RAIZ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"/>
            <a:ext cx="12188952" cy="640080"/>
          </a:xfrm>
          <a:prstGeom prst="rect">
            <a:avLst/>
          </a:prstGeom>
          <a:solidFill>
            <a:srgbClr val="1B75B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Visao Geral - Performance Financeira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Janeiro/2026 - Consolidado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188720"/>
          <a:ext cx="56692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6217920" y="1188720"/>
          <a:ext cx="2743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2" descr=""/>
          <p:cNvGraphicFramePr/>
          <p:nvPr/>
        </p:nvGraphicFramePr>
        <p:xfrm>
          <a:off x="9144000" y="1188720"/>
          <a:ext cx="2743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Shape 5"/>
          <p:cNvSpPr/>
          <p:nvPr/>
        </p:nvSpPr>
        <p:spPr>
          <a:xfrm>
            <a:off x="457200" y="4297680"/>
            <a:ext cx="11274552" cy="1920240"/>
          </a:xfrm>
          <a:prstGeom prst="rect">
            <a:avLst>
              <a:gd name="adj" fmla="val 4762"/>
            </a:avLst>
          </a:prstGeom>
          <a:solidFill>
            <a:srgbClr val="F0F9FF"/>
          </a:solidFill>
          <a:ln w="12700">
            <a:solidFill>
              <a:srgbClr val="1B75BB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40080" y="4389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5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Analise IA - Sintese Executiva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9144000" y="4389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Claude AI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640080" y="475488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Receita superou plano em R$ 2.3M (+3.2%), impulsionada por captacao acima da meta (+180 matriculas). EBITDA de R$ 18.5M com margem de 25.3% supera o target de 22% — melhor resultado dos ultimos 6 meses.</a:t>
            </a:r>
            <a:endParaRPr lang="en-US" sz="9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Ponto de atencao: custos fixos pressionaram R$ 1.1M acima do orcado, concentrados em energia eletrica (+18% tarifario). Recomenda-se RFP urgente para renegociacao.</a:t>
            </a:r>
            <a:endParaRPr lang="en-US" sz="9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Custo por aluno de R$ 4.850 esta 2% abaixo do plano e do benchmark setorial — eficiencia operacional confirmada. Oportunidade: expansao de turmas noturnas pode adicionar R$ 1.2M/sem.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457200" y="6309360"/>
            <a:ext cx="11274552" cy="1828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Text 10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RAIZ EDUCACAO  |  Janeiro/2026  |  Consolidado - Todas as Marcas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75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 RAIZ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"/>
            <a:ext cx="12188952" cy="640080"/>
          </a:xfrm>
          <a:prstGeom prst="rect">
            <a:avLst/>
          </a:prstGeom>
          <a:solidFill>
            <a:srgbClr val="1B75B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Analise de Receita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Comparativo Real vs Planejado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5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Drivers de Performance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645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Mensalidades: R$ 68.5M (101.2% do plano) - crescimento organico forte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Matriculas: R$ 4.2M (98.5% do plano) - campanha de captacao efetiva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Servicos extras: R$ 1.8M (105% do plano) - adesao acima do esperado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2651760"/>
          <a:ext cx="112471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640080" y="6172200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apresenta tendencia de crescimento consistente nos ultimos 12 meses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6309360"/>
            <a:ext cx="11274552" cy="1828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RAIZ EDUCACAO  |  Janeiro/2026  |  Consolidado - Todas as Marcas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75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 RAIZ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"/>
            <a:ext cx="12188952" cy="640080"/>
          </a:xfrm>
          <a:prstGeom prst="rect">
            <a:avLst/>
          </a:prstGeom>
          <a:solidFill>
            <a:srgbClr val="1B75B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Analise de EBITDA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Ponte vs Orcamento YTD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280160"/>
          <a:ext cx="112471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466344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Variacao positiva de receita adicionou R$ 2.3M ao EBITDA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Custos variaveis ficaram R$ 800K abaixo do orcado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Custos fixos pressionaram resultado em R$ 1.1M (principalmente energia)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SG&amp;A dentro do esperado com pequena economia de R$ 200K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6035040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superou orcamento principalmente por ganho de receita e eficiencia em custos variaveis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6309360"/>
            <a:ext cx="11274552" cy="1828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RAIZ EDUCACAO  |  Janeiro/2026  |  Consolidado - Todas as Marcas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75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 RAIZ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"/>
            <a:ext cx="12188952" cy="640080"/>
          </a:xfrm>
          <a:prstGeom prst="rect">
            <a:avLst/>
          </a:prstGeom>
          <a:solidFill>
            <a:srgbClr val="1B75B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Analise de Custos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Variacoes (Pareto)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280160"/>
          <a:ext cx="112471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206240"/>
            <a:ext cx="10881360" cy="1463040"/>
          </a:xfrm>
          <a:prstGeom prst="rect">
            <a:avLst>
              <a:gd name="adj" fmla="val 6250"/>
            </a:avLst>
          </a:prstGeom>
          <a:solidFill>
            <a:srgbClr val="DBEAFE"/>
          </a:solidFill>
          <a:ln w="25400">
            <a:solidFill>
              <a:srgbClr val="1B75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297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5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Variacoes Explicam 78% do Total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4663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Energia Eletrica: +R$ 450K (aumento tarifario de 18% nao previsto)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Material Didatico: -R$ 320K (renegociacao de fornecedor bem-sucedida)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Pessoal Temporario: +R$ 280K (cobertura de licencas e afastamentos)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6309360"/>
            <a:ext cx="11274552" cy="1828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RAIZ EDUCACAO  |  Janeiro/2026  |  Consolidado - Todas as Marcas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75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 RAIZ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"/>
            <a:ext cx="12188952" cy="640080"/>
          </a:xfrm>
          <a:prstGeom prst="rect">
            <a:avLst/>
          </a:prstGeom>
          <a:solidFill>
            <a:srgbClr val="1B75B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Composicao de Custos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Distribuicao por Categoria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280160"/>
          <a:ext cx="54864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6217920" y="1280160"/>
          <a:ext cx="54864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6309360"/>
            <a:ext cx="11274552" cy="1828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RAIZ EDUCACAO  |  Janeiro/2026  |  Consolidado - Todas as Marcas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75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 RAIZ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"/>
            <a:ext cx="12188952" cy="640080"/>
          </a:xfrm>
          <a:prstGeom prst="rect">
            <a:avLst/>
          </a:prstGeom>
          <a:solidFill>
            <a:srgbClr val="1B75B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Analise por Marca e Categoria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Calor de Variacoes (%)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00784"/>
                <a:gridCol w="1700784"/>
                <a:gridCol w="1700784"/>
                <a:gridCol w="1700784"/>
                <a:gridCol w="1700784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5B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Marca 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5B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Marca 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5B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Marca 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5B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Marca 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5B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Marca 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5B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5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5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5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5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5A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Custos Var.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Custos Fixos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SG&amp;A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5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+3.9%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5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914400" y="502920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Cores quentes (vermelho) = acima do orcado  |  Cores frias (verde) = abaixo do orcado (economia)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6309360"/>
            <a:ext cx="11274552" cy="1828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RAIZ EDUCACAO  |  Janeiro/2026  |  Consolidado - Todas as Marcas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75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 RAIZ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"/>
            <a:ext cx="12188952" cy="640080"/>
          </a:xfrm>
          <a:prstGeom prst="rect">
            <a:avLst/>
          </a:prstGeom>
          <a:solidFill>
            <a:srgbClr val="1B75B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Evolucao Acumulada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vs EBITDA - Area Chart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280160"/>
          <a:ext cx="112471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6309360"/>
            <a:ext cx="11274552" cy="1828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RAIZ EDUCACAO  |  Janeiro/2026  |  Consolidado - Todas as Marcas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75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 RAIZ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"/>
            <a:ext cx="12188952" cy="640080"/>
          </a:xfrm>
          <a:prstGeom prst="rect">
            <a:avLst/>
          </a:prstGeom>
          <a:solidFill>
            <a:srgbClr val="1B75B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Composicao por Marca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por Segmento - Barras Empilhadas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280160"/>
          <a:ext cx="112471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6309360"/>
            <a:ext cx="11274552" cy="1828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RAIZ EDUCACAO  |  Janeiro/2026  |  Consolidado - Todas as Marcas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75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 RAIZ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"/>
            <a:ext cx="12188952" cy="640080"/>
          </a:xfrm>
          <a:prstGeom prst="rect">
            <a:avLst/>
          </a:prstGeom>
          <a:solidFill>
            <a:srgbClr val="1B75B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Drivers Operacionais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por Aluno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698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1554480"/>
                <a:gridCol w="1371600"/>
                <a:gridCol w="1554480"/>
                <a:gridCol w="13716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5B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5B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5B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5B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Ano Ant.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5B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YoY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5B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Alunos Ativos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11.450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10.980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Receita/Aluno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R$ 6.500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R$ 6.450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R$ 6.420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Custo/Aluno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R$ 4.850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R$ 4.950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R$ 4.920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Margem/Aluno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R$ 1.650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R$ 1.500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R$ 1.500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Inadimplencia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Ticket Medio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R$ 685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R$ 680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R$ 675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48463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Custo por aluno de R$ 4.850 esta 2% abaixo do benchmark do setor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Receita por aluno de R$ 6.500 mantem-se estavel vs ano anterior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Oportunidade de expandir servicos extras para aumentar ticket medio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6309360"/>
            <a:ext cx="11274552" cy="1828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RAIZ EDUCACAO  |  Janeiro/2026  |  Consolidado - Todas as Marcas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75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 RAIZ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44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"/>
            <a:ext cx="12188952" cy="640080"/>
          </a:xfrm>
          <a:prstGeom prst="rect">
            <a:avLst/>
          </a:prstGeom>
          <a:solidFill>
            <a:srgbClr val="1B75B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Acao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0" y="25603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Proximos passos recomendados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4552" cy="1005840"/>
          </a:xfrm>
          <a:prstGeom prst="rect">
            <a:avLst>
              <a:gd name="adj" fmla="val 4545"/>
            </a:avLst>
          </a:prstGeom>
          <a:solidFill>
            <a:srgbClr val="F3F4F6"/>
          </a:solidFill>
          <a:ln w="12700">
            <a:solidFill>
              <a:srgbClr val="1B75B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554480"/>
            <a:ext cx="502920" cy="502920"/>
          </a:xfrm>
          <a:prstGeom prst="rect">
            <a:avLst>
              <a:gd name="adj" fmla="val 50909"/>
            </a:avLst>
          </a:prstGeom>
          <a:solidFill>
            <a:srgbClr val="1B75B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48132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Iniciar processo de RFP para renegociacao de contratos de energia e limpeza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1874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 |  15/Fev/2026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46720" y="1645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4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Reducao de R$ 650K/ano em custos fixos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11274552" cy="100584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1B75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697480"/>
            <a:ext cx="502920" cy="502920"/>
          </a:xfrm>
          <a:prstGeom prst="rect">
            <a:avLst>
              <a:gd name="adj" fmla="val 50909"/>
            </a:avLst>
          </a:prstGeom>
          <a:solidFill>
            <a:srgbClr val="1B75B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262432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programa de retencao de talentos com foco em professores-chave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3017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  |  28/Fev/2026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46720" y="2788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4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Reducao de turnover para 8% e economia de R$ 200K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11274552" cy="1005840"/>
          </a:xfrm>
          <a:prstGeom prst="rect">
            <a:avLst>
              <a:gd name="adj" fmla="val 4545"/>
            </a:avLst>
          </a:prstGeom>
          <a:solidFill>
            <a:srgbClr val="F3F4F6"/>
          </a:solidFill>
          <a:ln w="12700">
            <a:solidFill>
              <a:srgbClr val="1B75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840480"/>
            <a:ext cx="502920" cy="502920"/>
          </a:xfrm>
          <a:prstGeom prst="rect">
            <a:avLst>
              <a:gd name="adj" fmla="val 50909"/>
            </a:avLst>
          </a:prstGeom>
          <a:solidFill>
            <a:srgbClr val="1B75B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376732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Viabilizar abertura de 3 turmas noturnas piloto nas unidades de maior demanda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71600" y="4160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Operacoes  |  01/Mar/2026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46720" y="3931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4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adicional de R$ 400K no Q2/2026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800600"/>
            <a:ext cx="11274552" cy="100584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1B75B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983480"/>
            <a:ext cx="502920" cy="502920"/>
          </a:xfrm>
          <a:prstGeom prst="rect">
            <a:avLst>
              <a:gd name="adj" fmla="val 50909"/>
            </a:avLst>
          </a:prstGeom>
          <a:solidFill>
            <a:srgbClr val="1B75B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71600" y="491032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Acelerar projeto de automacao de processos administrativos (RPA)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71600" y="5303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  |  31/Mar/2026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46720" y="5074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4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Reducao de 15 FTEs e economia de R$ 900K/ano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6309360"/>
            <a:ext cx="11274552" cy="1828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RAIZ EDUCACAO  |  Janeiro/2026  |  Consolidado - Todas as Marcas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75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 RAIZ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Analise Financeira - RAIZ EDUCACAO</dc:title>
  <dc:subject>Teste de qualidade de graficos</dc:subject>
  <dc:creator>DRE RAIZ - Chart Blueprint Test</dc:creator>
  <cp:lastModifiedBy>DRE RAIZ - Chart Blueprint Test</cp:lastModifiedBy>
  <cp:revision>1</cp:revision>
  <dcterms:created xsi:type="dcterms:W3CDTF">2026-03-06T21:02:41Z</dcterms:created>
  <dcterms:modified xsi:type="dcterms:W3CDTF">2026-03-06T21:02:41Z</dcterms:modified>
</cp:coreProperties>
</file>