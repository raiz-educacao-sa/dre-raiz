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A6D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5028" y="0"/>
            <a:ext cx="6703924" cy="6858000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800" kern="0" dirty="0">
                <a:solidFill>
                  <a:srgbClr val="2E8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5029200" cy="36576"/>
          </a:xfrm>
          <a:prstGeom prst="rect">
            <a:avLst/>
          </a:prstGeom>
          <a:solidFill>
            <a:srgbClr val="1A6D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GERENCIAL — FEVEREIRO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Executiva de Resultados  |  Consolidado + 5 Marcas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A6D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663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0" y="466344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4663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MARCAS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20440" y="466344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/ 2026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57150" y="1371600"/>
            <a:ext cx="3840480" cy="3474720"/>
          </a:xfrm>
          <a:prstGeom prst="rect">
            <a:avLst/>
          </a:prstGeom>
          <a:solidFill>
            <a:srgbClr val="243B5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7904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6583680"/>
            <a:ext cx="10817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 |  DRE Gerencial  |  Confidencial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74552" y="6583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9902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-32% vs orçado: custo fixo é o problema central — 3 decisões necessárias hoje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612648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Executiva  |  SCR: Situação → Complicação → Resolução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3566160" cy="45720"/>
          </a:xfrm>
          <a:prstGeom prst="rect">
            <a:avLst/>
          </a:prstGeom>
          <a:solidFill>
            <a:srgbClr val="1A6D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A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3337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opera 5 marcas com meta de EBITDA consolidado de R$2,8M/mês. Fevereiro é historicamente o mês mais fraco do calendário escolar — menor receita recorrente, início de semestre.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118872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18872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COMPLICAÇÃO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51960" y="1572768"/>
            <a:ext cx="3337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de fevereiro: R$1,9M — R$900k abaixo do orçado (-32%). O desvio NÃO é sazonal: receita ficou +2% vs orçado. Custo fixo superou o plano em 18%, concentrado em folha (+R$280k) e facilities (+R$180k) de 3 filiais específicas.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09560" y="1188720"/>
            <a:ext cx="395935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1188720"/>
            <a:ext cx="395935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261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1627632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1627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94192" y="16276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contratações em SP2 e RJ3 até atingir 320 alunos consolidados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46720" y="2194560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2194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94192" y="21945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Renegociar contrato de facilities SP2 — reajuste não previsto no orçamento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2761488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2761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394192" y="27614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meta de matrículas RJ3 para março: 35 novas ou reduzir estrutura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3154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Impacto estimado: R$600k de EBITDA recuperável em Q2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657600"/>
            <a:ext cx="256032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74904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REAL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29768" y="3931920"/>
            <a:ext cx="23408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R$ 1,9M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29768" y="440740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-R$900k  vs Orçado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08960" y="36576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3657600"/>
            <a:ext cx="25603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18688" y="374904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LÍQUIDA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218688" y="3931920"/>
            <a:ext cx="23408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R$ 8,2M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18688" y="440740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+2%  vs Orçado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897880" y="36576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657600"/>
            <a:ext cx="256032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07608" y="374904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EBITDA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007608" y="3931920"/>
            <a:ext cx="23408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007608" y="440740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-6pp  vs Orçado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686800" y="3657600"/>
            <a:ext cx="318211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86800" y="3657600"/>
            <a:ext cx="318211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96528" y="3749040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ATIVOS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796528" y="3931920"/>
            <a:ext cx="2962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4.820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796528" y="4407408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-1%  vs Fev/2025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6583680"/>
            <a:ext cx="10817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 |  DRE Gerencial  |  Confidencial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274552" y="6583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9902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dividido: 3 marcas entregam, Marca B drena resultado — intervenção necessária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612648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Portfolio  |  Semáforo de Saúde por Marca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8961120" cy="329184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2435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/ UNIDADE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880360" y="12435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Real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434840" y="12435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vs Orc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989320" y="12435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43800" y="12435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vs A-1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098280" y="12435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371600" y="1517904"/>
            <a:ext cx="8961120" cy="402336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51790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  (Premium)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51790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R$820k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151790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▲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0" y="151790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0" y="151790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 ▲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0" y="151790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1938528"/>
            <a:ext cx="8961120" cy="402336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19385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  (Expansão)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19385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R$680k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19385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 ▲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19385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0" y="19385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 ▲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01200" y="1938528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71600" y="2359152"/>
            <a:ext cx="8961120" cy="402336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23591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D  (Regional)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2359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R$420k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2359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+1% ▲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2359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2359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→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01200" y="235915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371600" y="2779776"/>
            <a:ext cx="89611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2779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 (Crescimento)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277977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R$150k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37760" y="277977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 ▲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277977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046720" y="277977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-2% ▼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601200" y="277977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371600" y="3200400"/>
            <a:ext cx="896112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08760" y="32004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B  (Atenção)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32004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-R$170k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37760" y="32004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-1% ▼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92240" y="32004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046720" y="32004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-12% ▼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601200" y="320040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371600" y="3621024"/>
            <a:ext cx="896112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62102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  (CSC / Rateio)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383280" y="362102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37760" y="362102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92240" y="362102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046720" y="362102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601200" y="362102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CSC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371600" y="41148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46888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Dentro do plano (desvio ≤5%)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84632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Atenção (5-15%)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22376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Ação imediata (&gt;15%)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60120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CSC / sem meta de margem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371600" y="4526280"/>
            <a:ext cx="10332720" cy="11430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5448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ALERTA EXECUTIVO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554480" y="489204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B apresenta EBITDA negativo pelo 3º mês consecutivo. Padrão diferente de jan-fev/2025 (desvio era -R$40k). Volume de alunos caiu 12% vs A-1 enquanto custo fixo permanece alto — estrutura incompatível com volume atual. Ver análise detalhada no Slide 8.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6583680"/>
            <a:ext cx="10817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 |  DRE Gerencial  |  Confidencial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1274552" y="6583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1A6D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9902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Consolidado: receita saudável (+2%), custo fixo fora do plano (+18%) — margem caiu de 24% para 18%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612648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de Resultado  |  Consolidado Holding  |  Fevereiro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0" y="109728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1097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em Milhares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001000" y="109728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097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Marcas + CSC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11521440" cy="310896"/>
          </a:xfrm>
          <a:prstGeom prst="rect">
            <a:avLst/>
          </a:prstGeom>
          <a:solidFill>
            <a:srgbClr val="0F1C2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4533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37560" y="15453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(R$)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09160" y="15453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ORÇADO (R$)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80760" y="15453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vs Orc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78040" y="15453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 (R$)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49640" y="15453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vs A-1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1819656"/>
            <a:ext cx="11521440" cy="310896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85623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 RECEITA LÍQUIDA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18562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18562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8.040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80760" y="185623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+2,0%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178040" y="18562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7.850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185623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+4,5%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30552"/>
            <a:ext cx="11521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16712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01.01  Receita Educação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21671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7.680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21671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7.520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2167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+2,1%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78040" y="21671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49640" y="2167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+5,2%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2441448"/>
            <a:ext cx="11521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47802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01.02  Outras Receitas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37560" y="24780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24780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24780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78040" y="24780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49640" y="24780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-5,5%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2752344"/>
            <a:ext cx="11521440" cy="310896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78892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 CUSTOS VARIÁVEIS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37560" y="27889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-3.120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27889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-3.060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8076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-2,0%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78040" y="278892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-2.980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54964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-4,7%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3063240"/>
            <a:ext cx="11521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09981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02.01  Pessoal Pedagógico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37560" y="30998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-2.460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09160" y="30998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-2.400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80760" y="30998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-2,5%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78040" y="30998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-2.340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549640" y="30998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-5,1%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3374136"/>
            <a:ext cx="11521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41071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02.02  Material Didático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37560" y="34107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-660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09160" y="34107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-660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080760" y="34107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78040" y="34107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-640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549640" y="34107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-3,1%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" y="3685032"/>
            <a:ext cx="1152144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72160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CONTRIBUIÇÃO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337560" y="37216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5.080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709160" y="37216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4.980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080760" y="37216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+2,0%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178040" y="37216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549640" y="372160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+4,3%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0040" y="3995928"/>
            <a:ext cx="11521440" cy="310896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03250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 CUSTOS FIXOS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337560" y="40325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-2.140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709160" y="40325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-1.820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6080760" y="403250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-17,6%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178040" y="40325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-1.690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549640" y="403250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-26,6%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20040" y="4306824"/>
            <a:ext cx="11521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43434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03.01  Folha Adm / Operacional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337560" y="43434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-1.380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709160" y="43434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-1.100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080760" y="43434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-25,5%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178040" y="43434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-1.060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549640" y="43434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-30,2%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20040" y="4617720"/>
            <a:ext cx="11521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465429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03.02  Facilities / Aluguel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3337560" y="465429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-490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709160" y="465429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-460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080760" y="46542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-6,5%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178040" y="465429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-430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549640" y="46542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-14,0%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20040" y="4928616"/>
            <a:ext cx="11521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11480" y="49651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03.03  TI e Infraestrutura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3337560" y="49651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-270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709160" y="49651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-260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080760" y="496519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-3,8%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178040" y="49651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-200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549640" y="496519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-35,0%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20040" y="5239512"/>
            <a:ext cx="11521440" cy="310896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1480" y="527608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 SG&amp;A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3337560" y="52760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-440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4709160" y="52760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-420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6080760" y="52760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-4,8%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7178040" y="52760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-390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8549640" y="52760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-12,8%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320040" y="5550408"/>
            <a:ext cx="11521440" cy="310896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11480" y="55869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 RATEIO RAIZ (CSC)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3337560" y="55869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-600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4709160" y="55869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-580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6080760" y="55869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-3,4%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7178040" y="558698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-560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8549640" y="55869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-7,1%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320040" y="5861304"/>
            <a:ext cx="1152144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11480" y="589788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CONSOLIDADO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3337560" y="58978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1.900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4709160" y="58978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2.800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6080760" y="58978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-32,1%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7178040" y="58978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2.230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8549640" y="58978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-14,8%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320040" y="6172200"/>
            <a:ext cx="11521440" cy="329184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57200" y="62270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EBITDA %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3108960" y="62270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18,0%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4480560" y="62270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24,0%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760720" y="62270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-6,0 pp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178040" y="62270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22,3%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8458200" y="62270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-4,3 pp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28600" y="6583680"/>
            <a:ext cx="10817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 |  DRE Gerencial  |  Confidencial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11274552" y="6583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9902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 responde por 55% do desvio de EBITDA — concentrada em 3 filiais (SP2, RJ3, MG4)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612648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Bridge  |  Orçado → Real  |  Fevereiro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607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4892040"/>
            <a:ext cx="10607040" cy="18288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892040"/>
            <a:ext cx="106070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78231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6070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14223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106070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350215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106070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8620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31520" y="2331720"/>
            <a:ext cx="106070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22199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31520" y="1691640"/>
            <a:ext cx="106070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158191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188720" y="1307592"/>
            <a:ext cx="914400" cy="3584448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9469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Orçado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97280" y="10698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R$2.800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50592" y="1097646"/>
            <a:ext cx="914400" cy="20994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9469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359152" y="85990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+R$164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12464" y="1097646"/>
            <a:ext cx="914400" cy="7681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21024" y="49469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Var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621024" y="121103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-R$60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74336" y="1174455"/>
            <a:ext cx="914400" cy="35844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49469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82896" y="15694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-R$280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36208" y="1532900"/>
            <a:ext cx="914400" cy="230429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49469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144768" y="1799905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-R$180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98080" y="1763329"/>
            <a:ext cx="91440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49469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TI/Outros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406640" y="192792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-R$100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759952" y="1891345"/>
            <a:ext cx="914400" cy="184343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68512" y="49469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Rateio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668512" y="21122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-R$144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021824" y="2459736"/>
            <a:ext cx="914400" cy="2432304"/>
          </a:xfrm>
          <a:prstGeom prst="rect">
            <a:avLst/>
          </a:prstGeom>
          <a:solidFill>
            <a:srgbClr val="1A2E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30384" y="49469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930384" y="22219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R$1.900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1371600"/>
            <a:ext cx="320040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1417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do desvio total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Concentrado em SP2 (+R$160k) e RJ3 (+R$120k)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1520" y="63550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Favorável vs Orçado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474720" y="63550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Desfavorável vs Orçado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63550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Impacto parcial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961120" y="63550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Total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6583680"/>
            <a:ext cx="10817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 |  DRE Gerencial  |  Confidencial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1274552" y="6583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1A6D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9902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em linha com o orçado (+2%), mas mix piora: ticket sobe, volume cai — risco de retenção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612648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Receita  |  Decomposição Volume × Ticket × Mix por Marca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3891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A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DA RECEITA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4114800" cy="27432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72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68880" y="15727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ORÇADO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0440" y="15727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A-1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" y="1847088"/>
            <a:ext cx="4114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47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Alunos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18470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0440" y="18470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194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68880" y="2194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20440" y="2194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542032"/>
            <a:ext cx="4114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420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68880" y="25420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25420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889504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8895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Deduções / Bolsas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68880" y="288950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20440" y="288950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236976"/>
            <a:ext cx="41148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369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LÍQUIDA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68880" y="32369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20440" y="32369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41148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7033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ATENÇÃO: Volume vs Ticket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4360" y="395020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sobe por mix (marcas premium têm mais peso), mas volume total de alunos cai -3%. Indica possível evasão ou dificuldade de conversão de novos alunos — monitorar março.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0" y="1188720"/>
            <a:ext cx="6839712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1280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A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POR MARCA — Variação vs Orçado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98080" y="1600200"/>
            <a:ext cx="18288" cy="3749040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150876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66360" y="19385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98080" y="1920240"/>
            <a:ext cx="91440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19202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 R$2,4M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257860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98080" y="2560320"/>
            <a:ext cx="5486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2560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  R$0,9M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66360" y="32186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98080" y="3200400"/>
            <a:ext cx="3657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32004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  R$2,6M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66360" y="38587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98080" y="3840480"/>
            <a:ext cx="1828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38404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+1%  R$1,7M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44988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B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15200" y="4480560"/>
            <a:ext cx="1828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44805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-1%  R$0,6M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6583680"/>
            <a:ext cx="10817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 |  DRE Gerencial  |  Confidencial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1274552" y="6583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9902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fixo 18% acima do orçado: folha e facilities concentram 78% do desvio de R$460k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612648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Custos  |  Custo Fixo e Análise Vertical  |  Fevereiro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5669280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FIXO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965960" y="122529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0" y="122529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ORÇADO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86200" y="1225296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937760" y="12252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RECEITA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1481328"/>
            <a:ext cx="56692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361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Adm/Operacional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65960" y="153619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153619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86200" y="153619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-R$280k 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15361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828800"/>
            <a:ext cx="5669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8836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/ Aluguel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65960" y="188366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0" y="188366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86200" y="188366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-R$30k 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1883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76272"/>
            <a:ext cx="56692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231136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e Infraestrutura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65960" y="223113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26080" y="223113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86200" y="223113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-R$10k 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223113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2523744"/>
            <a:ext cx="5669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57860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Fixos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65960" y="257860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26080" y="257860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86200" y="257860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linha 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257860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2871216"/>
            <a:ext cx="566928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92608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 FIXO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965960" y="292608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26080" y="292608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1.940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86200" y="292608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-R$320k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0" y="29260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322930"/>
            <a:ext cx="56692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37779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Fixo como % da Receita: 27,6% Real vs 24,1% Orçado → +3,5pp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09360" y="1188720"/>
            <a:ext cx="5559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12801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ALAVANCAS E CONTEXTO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46520" y="1645920"/>
            <a:ext cx="5212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17190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Folha: +R$280k  (63% do desvio)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83680" y="20116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contratações antecipadas para expansão RJ3 (2 coord. pedagógicos) e SP2 (1 supervisor). Decisão tomada em jan/26 como aposta no crescimento de Q2. Break-even: 40 novas matrículas em RJ3 (atual: 285, meta: 325 em mar).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46520" y="3218688"/>
            <a:ext cx="5212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3291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Facilities: +R$30k  (7% do desvio)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583680" y="358444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aluguel SP2 renovou com reajuste de IGPM (+6,7%) não previsto no orçamento anual. CFO e COO a negociar renegociação retroativa — deadline: 15/março.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46520" y="4791456"/>
            <a:ext cx="5212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48646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TI: +R$10k  (2% do desvio)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583680" y="5157216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 infraestrutura para nova turma RJ3. Custo único — não recorrente.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" y="6583680"/>
            <a:ext cx="10817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 |  DRE Gerencial  |  Confidencial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1274552" y="6583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9902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B: 3° mês consecutivo com EBITDA negativo — custo fixo incompatível com volume atual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612648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|  Marca B  |  Decisão estrutural necessária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451592" y="201168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51592" y="201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ATENÇÃO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4805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618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SINTÉTICA — MARCA 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4206240" cy="27432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86000" y="1554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108960" y="1554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31920" y="15544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828800"/>
            <a:ext cx="4206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90195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Líquida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19019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0" y="19019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31920" y="190195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212848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860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Variáveis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228600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-290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08960" y="228600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931920" y="228600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596896"/>
            <a:ext cx="420624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67004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Contr.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267004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08960" y="267004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31920" y="267004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980944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05409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Fixo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0" y="3054096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08960" y="3054096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31920" y="305409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-48%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364992"/>
            <a:ext cx="4206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3814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 + Rateio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0" y="343814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108960" y="343814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31920" y="343814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749040"/>
            <a:ext cx="420624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8221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286000" y="382219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108960" y="382219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931920" y="382219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160520"/>
            <a:ext cx="4206240" cy="105156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2245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EBITDA Marca B: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94360" y="4480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Dez/25: -R$50k  |  Jan/26: -R$95k  |  Fev/26: -R$170k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Tendência de piora acelerada — não é sazonalidade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20640" y="1188720"/>
            <a:ext cx="6748272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7800" y="12618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OPÇÕES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57800" y="1645920"/>
            <a:ext cx="6400800" cy="969264"/>
          </a:xfrm>
          <a:prstGeom prst="rect">
            <a:avLst/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171907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RAIZ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394960" y="1975104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alunos caiu 12% (de 520 para 458). Custo fixo permanece calibrado para 520 alunos. Custo/aluno passou de R$596 → R$1.004 — inviável economicamente.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57800" y="2724912"/>
            <a:ext cx="6400800" cy="969264"/>
          </a:xfrm>
          <a:prstGeom prst="rect">
            <a:avLst/>
          </a:prstGeom>
          <a:solidFill>
            <a:srgbClr val="F8FAFC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94960" y="2798064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A — Escalar volume (aposta)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394960" y="3054096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trazer 70 novos alunos até maio. Requer campanha comercial focada, desconto pontual para conversão. Risco: campanha pode não performar no prazo. Tempo: 2-3 meses. Impacto: break-even em maio.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57800" y="3803904"/>
            <a:ext cx="6400800" cy="969264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94960" y="3877056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B — Reduzir estrutura (seguro)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394960" y="413308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Desligar 2 colaboradores (folha -R$180k/mês), renegociar aluguel. EBITDA volta a zero em 30 dias. Risco: prejudicar capacidade de crescimento futuro.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57800" y="4882896"/>
            <a:ext cx="6400800" cy="969264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94960" y="4956048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NECESSÁRIA HOJE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394960" y="521208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entre Opção A ou B até 10/03. Ambas são viáveis — não decidir é a pior opção. Sem decisão, Marca B sangra mais R$170k em março.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6583680"/>
            <a:ext cx="10817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 |  DRE Gerencial  |  Confidencial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1274552" y="6583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9902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anual ainda alcançável — mas exige recuperação em março: 2 cenários para o semestre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612648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e Perspectiva  |  EBITDA YTD e Forecast Semestral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1521440" cy="32004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1234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691640" y="1225296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ANUAL (Orc)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520440" y="122529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BASE (Atual)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15000" y="122529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OTIMISTA (Com Ações)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098280" y="1225296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para Meta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1508760"/>
            <a:ext cx="115214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8191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91640" y="158191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R$2.800k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0440" y="158191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R$2.650k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15000" y="15819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R$2.650k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098280" y="15819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-R$150k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1892808"/>
            <a:ext cx="11521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9659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Fevereiro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91640" y="19659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R$2.800k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20440" y="19659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R$1.900k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15000" y="19659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R$1.900k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98280" y="196596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-R$900k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276856"/>
            <a:ext cx="115214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350008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Março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91640" y="235000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R$2.800k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20440" y="23500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R$2.200k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15000" y="23500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R$2.700k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098280" y="23500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-R$100k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2660904"/>
            <a:ext cx="11521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734056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91640" y="273405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R$3.000k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20440" y="273405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R$2.600k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15000" y="273405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R$3.000k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098280" y="273405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linha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044952"/>
            <a:ext cx="115214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11810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91640" y="31181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R$3.000k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20440" y="311810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R$2.700k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15000" y="31181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R$3.100k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098280" y="31181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+R$100k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429000"/>
            <a:ext cx="11521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50215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691640" y="350215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R$2.800k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520440" y="35021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R$2.500k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715000" y="35021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R$2.900k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098280" y="35021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+R$100k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3813048"/>
            <a:ext cx="1152144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88620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 SEMESTRE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691640" y="38862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R$17.200k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520440" y="388620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R$14.550k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715000" y="38862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R$16.250k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098280" y="388620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-R$950k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4343400"/>
            <a:ext cx="11521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4348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ACONTECER EM MARÇO PARA RECUPERAR O SEMESTRE: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2920" y="4736592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1A6D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736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41248" y="47365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fixo deve ceder R$400k vs fevereiro (execução das 3 ações do slide anterior)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2920" y="508406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50840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41248" y="508406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novas matrículas em RJ3 (campanha comercial já ativada)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02920" y="5431536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5431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41248" y="5431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SP2 renegociado antes do fechamento de março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" y="6583680"/>
            <a:ext cx="10817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 |  DRE Gerencial  |  Confidencial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1274552" y="6583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DECISÕES HOJE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R$600k de EBITDA recuperável em Q2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0789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11155680" cy="1325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502920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1938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contratações — SP2 e RJ3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30428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 até atingir 320 alunos consolidados. Revisão: 01/abril.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0" y="2697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Dir. SP2 + Dir. RJ3 + CHRO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697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Hoje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2697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+R$240k/mês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11155680" cy="1325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37560"/>
            <a:ext cx="502920" cy="1325880"/>
          </a:xfrm>
          <a:prstGeom prst="rect">
            <a:avLst/>
          </a:prstGeom>
          <a:solidFill>
            <a:srgbClr val="1A6D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44728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Renegociar contrato facilities SP2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81304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Retroativo a fevereiro. Cláusula de reajuste não havia sido prevista no orçamento.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0" y="4206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CFO + COO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4206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15/março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206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+R$180k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1155680" cy="1325880"/>
          </a:xfrm>
          <a:prstGeom prst="rect">
            <a:avLst/>
          </a:prstGeom>
          <a:solidFill>
            <a:srgbClr val="1A2E4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846320"/>
            <a:ext cx="502920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66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495604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futuro estrutural da Marca 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53218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A (escalar volume) ou Opção B (reduzir estrutura). Ver análise no Slide 8.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80160" y="5715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CEO + Diretor Marca 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5715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10/março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5715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Evitar -R$170k/mês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6583680"/>
            <a:ext cx="10817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 |  DRE Gerencial  |  Confidencial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274552" y="6583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REUNIÃO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de abril de 2026  |  DRE Gerencial — Março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103327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ESTA APRESENTAÇÃO SERIA GERADA PELO SISTEMA: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1033272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359152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59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74520" y="2359152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+ contexto do mês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2679192"/>
            <a:ext cx="1033272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706624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E8E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7066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74520" y="2706624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Executiva (SCR) — gerada por IA com dados reais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3026664"/>
            <a:ext cx="1033272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054096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05409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874520" y="3054096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do Portfolio — dinâmico, ordenado por EBITDA%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3374136"/>
            <a:ext cx="1033272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401568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401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874520" y="3401568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Consolidado — tabela formatada com cores condicionais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3721608"/>
            <a:ext cx="1033272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374904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749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74520" y="3749040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EBITDA Bridge — calculado automaticamente dos desvios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4069080"/>
            <a:ext cx="1033272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096512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096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874520" y="4096512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Receita — volume × ticket × mix por marca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4416552"/>
            <a:ext cx="1033272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" y="4443984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4439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874520" y="4443984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Custo — alavancas + análise vertical automática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" y="4764024"/>
            <a:ext cx="1033272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4791456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7914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874520" y="4791456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marca com maior desvio negativo (auto-selecionada)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" y="5111496"/>
            <a:ext cx="1033272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" y="5138928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" y="5138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874520" y="5138928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— cenários calculados a partir da tendência atual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14400" y="5458968"/>
            <a:ext cx="10332720" cy="347472"/>
          </a:xfrm>
          <a:prstGeom prst="rect">
            <a:avLst/>
          </a:prstGeom>
          <a:solidFill>
            <a:srgbClr val="24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0120" y="548640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54864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874520" y="5486400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— geradas por IA a partir dos desvios identificados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6583680"/>
            <a:ext cx="10817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 |  DRE Gerencial  |  Confidencial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274552" y="65836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2026-03-27T17:44:59Z</dcterms:created>
  <dcterms:modified xsi:type="dcterms:W3CDTF">2026-03-27T17:44:59Z</dcterms:modified>
</cp:coreProperties>
</file>