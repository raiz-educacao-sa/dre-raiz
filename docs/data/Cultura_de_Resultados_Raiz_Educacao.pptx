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554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DE</a:t>
            </a:r>
            <a:endParaRPr lang="en-US" sz="4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Transformando números em decisões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Institucional —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DRE RAIZ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0515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Cultura de Resultados?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Definição, por que importa, e o que muda na prática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904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4904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5 Pilares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6733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Transparência, Responsabilização, Planejamento, Monitoramento, Inteligência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2938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192938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do Número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11226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lançamento à decisão executiva — passo a passo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36829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36829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Ferramenta: DRE RAIZ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55117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pelas funcionalidades e como cada área usa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8072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280720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e Responsabilidades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9900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para cada perfil na organização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2461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e Compliance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42900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Aprovações, auditoria, rastreabilidade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6850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36850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 Serviço dos Resultados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386791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Análises, forecasts, agentes inteligentes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12394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412394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e Próximos Passos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30682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falta e para onde vamos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CULTURA</a:t>
            </a:r>
            <a:endParaRPr lang="en-US" sz="3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RESULTADOS?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só olhar números.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criar um sistema onde cada decisão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base, rastreabilidade e dono.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DEFINIÇÃO: CULTURA DE RESULTADOS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097280"/>
          </a:xfrm>
          <a:prstGeom prst="roundedRect">
            <a:avLst>
              <a:gd name="adj" fmla="val 8333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"Cultura de Resultados é o conjunto de comportamentos, processos e ferramentas que garantem que toda a organização fale a mesma língua numérica — e que cada número tenha um dono, uma explicação e um plano de ação."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é: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planilhas de Excel circulando por e-mail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Cobrar resultados sem dar visibilidade dos dados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números sem contexto ou explicação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baseadas em "feeling" ou achismo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278892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único e confiável de dados (single source of truth)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desvio identificado, justificado e com responsável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baseadas em dados + inteligência artificial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total: do lançamento ao resultado final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4/32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CULTURA DE RESULTADOS IMPORTA?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empresas com cultura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superam peers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7744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7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37744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rápidas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tomar decisões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corretivas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056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48056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retrabalho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fonte única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verdade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2.5x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58368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probabilidade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atingir metas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orçamentárias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Raiz Educação, isso significa: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marcas (CGS, QI, SAP, Eleva, etc.) com a mesma régua de análise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Gestores sabem onde estão os desvios ANTES da reunião mensal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sintetiza análises que levariam horas em minutos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completo: cada lançamento rastreável (quem, quando, por quê)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5/32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5 PILARES DA</a:t>
            </a:r>
            <a:endParaRPr lang="en-US" sz="3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DE RESULTADOS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pilar é sustentado por funcionalidades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reais da plataforma DRE RAIZ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3474720"/>
            <a:ext cx="1554480" cy="1005840"/>
          </a:xfrm>
          <a:prstGeom prst="roundedRect">
            <a:avLst>
              <a:gd name="adj" fmla="val 7273"/>
            </a:avLst>
          </a:prstGeom>
          <a:solidFill>
            <a:srgbClr val="1B75B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349300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3886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3474720"/>
            <a:ext cx="1554480" cy="1005840"/>
          </a:xfrm>
          <a:prstGeom prst="roundedRect">
            <a:avLst>
              <a:gd name="adj" fmla="val 7273"/>
            </a:avLst>
          </a:prstGeom>
          <a:solidFill>
            <a:srgbClr val="F44C00"/>
          </a:solidFill>
          <a:ln/>
        </p:spPr>
      </p:sp>
      <p:sp>
        <p:nvSpPr>
          <p:cNvPr id="10" name="Text 8"/>
          <p:cNvSpPr/>
          <p:nvPr/>
        </p:nvSpPr>
        <p:spPr>
          <a:xfrm>
            <a:off x="2057400" y="349300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057400" y="3886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RESPONSABILIZAÇÃO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94760" y="3474720"/>
            <a:ext cx="1554480" cy="1005840"/>
          </a:xfrm>
          <a:prstGeom prst="roundedRect">
            <a:avLst>
              <a:gd name="adj" fmla="val 7273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349300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94760" y="3886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32120" y="3474720"/>
            <a:ext cx="1554480" cy="1005840"/>
          </a:xfrm>
          <a:prstGeom prst="roundedRect">
            <a:avLst>
              <a:gd name="adj" fmla="val 7273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5532120" y="349300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532120" y="3886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69480" y="3474720"/>
            <a:ext cx="1554480" cy="1005840"/>
          </a:xfrm>
          <a:prstGeom prst="roundedRect">
            <a:avLst>
              <a:gd name="adj" fmla="val 7273"/>
            </a:avLst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7269480" y="349300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269480" y="3886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6/32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1: TRANSPARÊNCIA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7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veem os mesmos números, com a mesma metodologia, em tempo real.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no DRE RAIZ: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Gerencial: visão consolidada Real vs Orçado vs Ano Anterior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modos de visualização: Consolidado, Cenário, Mês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Drill-down: tag0 → tag01 → tag02 → tag03 (projeto)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compartilhados: marcas, filiais, centros de custo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Ctrl+Clique para somar valores interativamente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Excel fiel à tela (não é planilha separada)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411480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754880" y="146304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Print: DRE Gerencial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(SomaTagsView — modo Cenário)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Mostrando Real vs Orçado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drill-down em tag01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7/32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TRANSPARÊNCIA: DO MACRO AO MICRO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1188720"/>
            <a:ext cx="1600200" cy="1371600"/>
          </a:xfrm>
          <a:prstGeom prst="roundedRect">
            <a:avLst>
              <a:gd name="adj" fmla="val 5333"/>
            </a:avLst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2344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(tag0)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" y="18288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Receita, Custos,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SG&amp;A, EBITDA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55648" y="1554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938528" y="1188720"/>
            <a:ext cx="1600200" cy="1371600"/>
          </a:xfrm>
          <a:prstGeom prst="roundedRect">
            <a:avLst>
              <a:gd name="adj" fmla="val 5333"/>
            </a:avLst>
          </a:prstGeom>
          <a:solidFill>
            <a:srgbClr val="1B75BB"/>
          </a:solidFill>
          <a:ln/>
        </p:spPr>
      </p:sp>
      <p:sp>
        <p:nvSpPr>
          <p:cNvPr id="10" name="Text 8"/>
          <p:cNvSpPr/>
          <p:nvPr/>
        </p:nvSpPr>
        <p:spPr>
          <a:xfrm>
            <a:off x="1938528" y="12344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Custo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(tag01)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38528" y="18288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Mensalidades,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Matrícula, Taxas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11296" y="1554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94176" y="1188720"/>
            <a:ext cx="1600200" cy="1371600"/>
          </a:xfrm>
          <a:prstGeom prst="roundedRect">
            <a:avLst>
              <a:gd name="adj" fmla="val 5333"/>
            </a:avLst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3694176" y="12344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(tag02)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94176" y="18288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Graduação,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Pós, EAD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66944" y="1554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49824" y="1188720"/>
            <a:ext cx="1600200" cy="1371600"/>
          </a:xfrm>
          <a:prstGeom prst="roundedRect">
            <a:avLst>
              <a:gd name="adj" fmla="val 5333"/>
            </a:avLst>
          </a:prstGeom>
          <a:solidFill>
            <a:srgbClr val="60A5FA"/>
          </a:solidFill>
          <a:ln/>
        </p:spPr>
      </p:sp>
      <p:sp>
        <p:nvSpPr>
          <p:cNvPr id="18" name="Text 16"/>
          <p:cNvSpPr/>
          <p:nvPr/>
        </p:nvSpPr>
        <p:spPr>
          <a:xfrm>
            <a:off x="5449824" y="12344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(tag03)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49824" y="18288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X,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22592" y="1554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205472" y="1188720"/>
            <a:ext cx="1600200" cy="1371600"/>
          </a:xfrm>
          <a:prstGeom prst="roundedRect">
            <a:avLst>
              <a:gd name="adj" fmla="val 5333"/>
            </a:avLst>
          </a:prstGeom>
          <a:solidFill>
            <a:srgbClr val="F44C00"/>
          </a:solidFill>
          <a:ln/>
        </p:spPr>
      </p:sp>
      <p:sp>
        <p:nvSpPr>
          <p:cNvPr id="22" name="Text 20"/>
          <p:cNvSpPr/>
          <p:nvPr/>
        </p:nvSpPr>
        <p:spPr>
          <a:xfrm>
            <a:off x="7205472" y="12344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(transação)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05472" y="18288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 12345,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R$ 15.200,00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Duplo clique em qualquer linha da DRE → abre Lançamentos com filtros pré-aplicados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200400"/>
            <a:ext cx="384048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457200" y="32004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Print: DRE Gerencial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aberto (tag01 expandido)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3200400"/>
            <a:ext cx="429768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4572000" y="320040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Print: Lançamentos (TransactionsView)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pré-aplicados via drill-down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8/32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2: RESPONSABILIZAÇÃO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mudança tem um dono. Cada desvio tem uma justificativa. Cada aprovação tem um registro.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Aprovação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edição de lançamento gera solicitação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2 pessoas: quem pede ≠ quem aprova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antes/depois (De → Para)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 obrigatória para rateios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completo: quem, quando, o quê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de pendentes na sidebar (alerta visual)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Justificativas de Desvio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87452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"Gerar Desvios" = foto da DRE naquele momento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Pacoteiros justificam suas linhas (tag02/tag03)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sintetiza cascata: tag03→tag02→tag01→tag0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Notificação por email aos responsáveis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Pendente → Justificado → Aprovado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Versionamento: cada geração cria nova versão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393192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57200" y="36576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Print: ManualChangesView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(Fila de Aprovação com De→Para)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3657600"/>
            <a:ext cx="402336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846320" y="36576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Print: VarianceJustificationsView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(Tabela hierárquica de desvios)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9/32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GOVERNANÇA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097280"/>
            <a:ext cx="640080" cy="640080"/>
          </a:xfrm>
          <a:prstGeom prst="ellipse">
            <a:avLst/>
          </a:prstGeom>
          <a:solidFill>
            <a:srgbClr val="1B75B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43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 lançamento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TransactionsView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(edição inline)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48840" y="1188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108960" y="1097280"/>
            <a:ext cx="640080" cy="64008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1143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6888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registra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manual_changes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(automático)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43400" y="1188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303520" y="1097280"/>
            <a:ext cx="640080" cy="640080"/>
          </a:xfrm>
          <a:prstGeom prst="ellipse">
            <a:avLst/>
          </a:prstGeom>
          <a:solidFill>
            <a:srgbClr val="F44C00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1143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6344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De→Para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ManualChangesView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(aprovação)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37960" y="1188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498080" y="109728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1143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5800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ou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rejeita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Mensal de Desvios: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74320" y="3520440"/>
            <a:ext cx="1920240" cy="1097280"/>
          </a:xfrm>
          <a:prstGeom prst="roundedRect">
            <a:avLst>
              <a:gd name="adj" fmla="val 6667"/>
            </a:avLst>
          </a:prstGeom>
          <a:solidFill>
            <a:srgbClr val="1B75BB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35478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" y="37307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Gerencial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(dia a dia)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114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Análises, ajustes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lançamentos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68880" y="3520440"/>
            <a:ext cx="1920240" cy="1097280"/>
          </a:xfrm>
          <a:prstGeom prst="roundedRect">
            <a:avLst>
              <a:gd name="adj" fmla="val 6667"/>
            </a:avLst>
          </a:prstGeom>
          <a:solidFill>
            <a:srgbClr val="F44C00"/>
          </a:solidFill>
          <a:ln/>
        </p:spPr>
      </p:sp>
      <p:sp>
        <p:nvSpPr>
          <p:cNvPr id="31" name="Text 29"/>
          <p:cNvSpPr/>
          <p:nvPr/>
        </p:nvSpPr>
        <p:spPr>
          <a:xfrm>
            <a:off x="2468880" y="35478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468880" y="37307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 Corte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(FP&amp;A)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468880" y="4114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"Gerar Desvios"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SNAPSHOT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3520440"/>
            <a:ext cx="1920240" cy="1097280"/>
          </a:xfrm>
          <a:prstGeom prst="roundedRect">
            <a:avLst>
              <a:gd name="adj" fmla="val 6667"/>
            </a:avLst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35478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63440" y="37307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Pacoteiros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(prazo X dias)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4114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tag02/tag03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58000" y="3520440"/>
            <a:ext cx="1920240" cy="1097280"/>
          </a:xfrm>
          <a:prstGeom prst="roundedRect">
            <a:avLst>
              <a:gd name="adj" fmla="val 6667"/>
            </a:avLst>
          </a:prstGeom>
          <a:solidFill>
            <a:srgbClr val="16A34A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0" y="35478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58000" y="37307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Automático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clique)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0" y="4114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+ Justificativas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Apresentação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10/32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3: PLANEJAMENTO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basta olhar para trás. É preciso projetar o futuro e corrigir a rota ANTES do fechamento.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vs Orçado vs Ano Anterior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Gerencial modo "Cenário": 3 cenários lado a lado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absoluto (R$) e percentual (%) em cada linha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Cores: verde = favorável, vermelho = desfavorável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metodologia para todas as marcas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de Fechamento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87452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métodos: Run Rate, Budget Adjusted, Linear Trend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de confiança (95%) com bandas visuais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por tag0 e tag01 (centro de custo)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Gráfico: Real (barras) + Forecast (linha)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393192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57200" y="338328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Print: DRE Gerencial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Cenário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(Real vs Orçado vs A-1)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3383280"/>
            <a:ext cx="40233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846320" y="33832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Print: ForecastingView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(gráfico com bandas de confiança)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11/32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4: MONITORAMENTO EM TEMPO REAL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executivos que mostram a saúde financeira em um relance.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Financeiro (Dashboard)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" y="1965960"/>
            <a:ext cx="1627632" cy="1188720"/>
          </a:xfrm>
          <a:prstGeom prst="roundedRect">
            <a:avLst>
              <a:gd name="adj" fmla="val 6154"/>
            </a:avLst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993392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" y="219456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Cards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" y="251460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KPIs: Receita, EBITDA, Margem%, Alunos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38528" y="1965960"/>
            <a:ext cx="1627632" cy="1188720"/>
          </a:xfrm>
          <a:prstGeom prst="roundedRect">
            <a:avLst>
              <a:gd name="adj" fmla="val 6154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938528" y="1993392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38528" y="219456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51460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Desvios &gt;5% destacados automaticamente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94176" y="1965960"/>
            <a:ext cx="1627632" cy="1188720"/>
          </a:xfrm>
          <a:prstGeom prst="roundedRect">
            <a:avLst>
              <a:gd name="adj" fmla="val 6154"/>
            </a:avLst>
          </a:prstGeom>
          <a:solidFill>
            <a:srgbClr val="1B75BB"/>
          </a:solidFill>
          <a:ln/>
        </p:spPr>
      </p:sp>
      <p:sp>
        <p:nvSpPr>
          <p:cNvPr id="16" name="Text 14"/>
          <p:cNvSpPr/>
          <p:nvPr/>
        </p:nvSpPr>
        <p:spPr>
          <a:xfrm>
            <a:off x="3694176" y="1993392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94176" y="219456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Operacionais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67328" y="251460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indicadores: Hero + Operacionais + Consumo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49824" y="1965960"/>
            <a:ext cx="1627632" cy="1188720"/>
          </a:xfrm>
          <a:prstGeom prst="roundedRect">
            <a:avLst>
              <a:gd name="adj" fmla="val 6154"/>
            </a:avLst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5449824" y="1993392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49824" y="219456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Filiais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22976" y="251460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+ gráfico ECharts por filial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205472" y="1965960"/>
            <a:ext cx="1627632" cy="1188720"/>
          </a:xfrm>
          <a:prstGeom prst="roundedRect">
            <a:avLst>
              <a:gd name="adj" fmla="val 6154"/>
            </a:avLst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7205472" y="1993392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05472" y="219456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IA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78624" y="251460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executiva gerada por Claude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Semáforo: 🟢 ≤5%  |  🟡 5-15%  |  🔴 &gt;15%  (custos invertidos)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Print: Cockpit Financeiro (CockpitDashboard) — visão completa com Health Cards + Anomalias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12/32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CEO: PAINEL EXECUTIVO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abas estratégicas para decisões de alto nível: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" y="1417320"/>
            <a:ext cx="1664208" cy="1828800"/>
          </a:xfrm>
          <a:prstGeom prst="roundedRect">
            <a:avLst>
              <a:gd name="adj" fmla="val 4396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" y="146304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" y="17830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" y="2103120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financeiro, KPIs,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6 meses, benchmark,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e ações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29384" y="1417320"/>
            <a:ext cx="1664208" cy="1828800"/>
          </a:xfrm>
          <a:prstGeom prst="roundedRect">
            <a:avLst>
              <a:gd name="adj" fmla="val 4396"/>
            </a:avLst>
          </a:prstGeom>
          <a:solidFill>
            <a:srgbClr val="1B75BB"/>
          </a:solidFill>
          <a:ln/>
        </p:spPr>
      </p:sp>
      <p:sp>
        <p:nvSpPr>
          <p:cNvPr id="11" name="Text 9"/>
          <p:cNvSpPr/>
          <p:nvPr/>
        </p:nvSpPr>
        <p:spPr>
          <a:xfrm>
            <a:off x="1929384" y="146304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29384" y="17830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02536" y="2103120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marcas,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por marca, HHI,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alocação de capital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21608" y="1417320"/>
            <a:ext cx="1664208" cy="1828800"/>
          </a:xfrm>
          <a:prstGeom prst="roundedRect">
            <a:avLst>
              <a:gd name="adj" fmla="val 4396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721608" y="146304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21608" y="17830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94760" y="2103120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6 cenários,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alavancas (preço,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custos...)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13832" y="1417320"/>
            <a:ext cx="1664208" cy="1828800"/>
          </a:xfrm>
          <a:prstGeom prst="roundedRect">
            <a:avLst>
              <a:gd name="adj" fmla="val 4396"/>
            </a:avLst>
          </a:prstGeom>
          <a:solidFill>
            <a:srgbClr val="F44C00"/>
          </a:solidFill>
          <a:ln/>
        </p:spPr>
      </p:sp>
      <p:sp>
        <p:nvSpPr>
          <p:cNvPr id="19" name="Text 17"/>
          <p:cNvSpPr/>
          <p:nvPr/>
        </p:nvSpPr>
        <p:spPr>
          <a:xfrm>
            <a:off x="5513832" y="146304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13832" y="17830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86984" y="2103120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IA,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tradeoffs, quick wins,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a evitar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06056" y="1417320"/>
            <a:ext cx="1664208" cy="1828800"/>
          </a:xfrm>
          <a:prstGeom prst="roundedRect">
            <a:avLst>
              <a:gd name="adj" fmla="val 4396"/>
            </a:avLst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7306056" y="146304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06056" y="17830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79208" y="2103120"/>
            <a:ext cx="15179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cenários de estresse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marca, impacto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EBITDA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474720"/>
            <a:ext cx="393192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57200" y="34747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Print: CEO 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(aba Portfolio — ranking de marcas)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Print: CEO 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(aba Simulação — cenários what-if)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13/32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5: INTELIGÊNCIA ARTIFICIAL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não substitui o gestor. IA amplifica a capacidade de análise e síntese.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Camadas de IA no DRE RAIZ: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560320" cy="2103120"/>
          </a:xfrm>
          <a:prstGeom prst="roundedRect">
            <a:avLst>
              <a:gd name="adj" fmla="val 3478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0848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Automática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DRE em prosa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de desvios (cascata)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 no dashboard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828800"/>
            <a:ext cx="2560320" cy="2103120"/>
          </a:xfrm>
          <a:prstGeom prst="roundedRect">
            <a:avLst>
              <a:gd name="adj" fmla="val 3478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8745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20848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&amp; Projeção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3774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métodos de projeção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Intervalos de confiança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anomalias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828800"/>
            <a:ext cx="2743200" cy="2103120"/>
          </a:xfrm>
          <a:prstGeom prst="roundedRect">
            <a:avLst>
              <a:gd name="adj" fmla="val 3478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874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7920" y="2084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Alpha (7 Agentes)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23774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Alex: Planejador Estratégico</a:t>
            </a:r>
            <a:endParaRPr lang="en-US" sz="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Bruna: Qualidade de Dados</a:t>
            </a:r>
            <a:endParaRPr lang="en-US" sz="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Carlos: Performance Analyst</a:t>
            </a:r>
            <a:endParaRPr lang="en-US" sz="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Denilson: Otimização</a:t>
            </a:r>
            <a:endParaRPr lang="en-US" sz="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Edmundo: Forecast Adaptativo</a:t>
            </a:r>
            <a:endParaRPr lang="en-US" sz="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Falcão: Risco Estratégico</a:t>
            </a:r>
            <a:endParaRPr lang="en-US" sz="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Executivo: Revisão Final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8229600" cy="274320"/>
          </a:xfrm>
          <a:prstGeom prst="roundedRect">
            <a:avLst>
              <a:gd name="adj" fmla="val 20000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DADO → LEITURA → EXPLICAÇÃO → PLANO → PROJEÇÃO → RISCO → NARRATIVA → REVISÃO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14/32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</a:t>
            </a:r>
            <a:endParaRPr lang="en-US" sz="3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NÚMERO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lançamento bancário à decisão executiva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cada etapa dentro do sistema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15/32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DO NÚMERO: VISÃO GERAL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" y="1097280"/>
            <a:ext cx="1188720" cy="2103120"/>
          </a:xfrm>
          <a:prstGeom prst="roundedRect">
            <a:avLst>
              <a:gd name="adj" fmla="val 6154"/>
            </a:avLst>
          </a:prstGeom>
          <a:solidFill>
            <a:srgbClr val="1B75B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" y="11155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" y="15727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" y="18745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Conciliação bancária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importação manual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AdminPanel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325880" y="1097280"/>
            <a:ext cx="1188720" cy="2103120"/>
          </a:xfrm>
          <a:prstGeom prst="roundedRect">
            <a:avLst>
              <a:gd name="adj" fmla="val 6154"/>
            </a:avLst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11155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🏷️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25880" y="15727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18745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contábil → tags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(trigger automático)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325880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SQL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606040" y="1097280"/>
            <a:ext cx="1188720" cy="2103120"/>
          </a:xfrm>
          <a:prstGeom prst="roundedRect">
            <a:avLst>
              <a:gd name="adj" fmla="val 6154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2606040" y="11155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0604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06040" y="15727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ENRIQUECIMENTO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51760" y="18745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filial, tag0,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recorrência, PDD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06040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Automações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886200" y="1097280"/>
            <a:ext cx="1188720" cy="2103120"/>
          </a:xfrm>
          <a:prstGeom prst="roundedRect">
            <a:avLst>
              <a:gd name="adj" fmla="val 6154"/>
            </a:avLst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886200" y="11155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8620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86200" y="15727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31920" y="18745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Gerencial: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vs Orçado vs A-1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86200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SomaTagsView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166360" y="1097280"/>
            <a:ext cx="1188720" cy="2103120"/>
          </a:xfrm>
          <a:prstGeom prst="roundedRect">
            <a:avLst>
              <a:gd name="adj" fmla="val 6154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5166360" y="11155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6636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66360" y="15727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12080" y="18745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Desvios, forecast,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narrativa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66360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AnalysisView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446520" y="1097280"/>
            <a:ext cx="1188720" cy="2103120"/>
          </a:xfrm>
          <a:prstGeom prst="roundedRect">
            <a:avLst>
              <a:gd name="adj" fmla="val 6154"/>
            </a:avLst>
          </a:prstGeom>
          <a:solidFill>
            <a:srgbClr val="F44C00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11155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4652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446520" y="15727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18745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simulação,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446520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ExecutiveDashboard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7726680" y="1097280"/>
            <a:ext cx="1188720" cy="2103120"/>
          </a:xfrm>
          <a:prstGeom prst="roundedRect">
            <a:avLst>
              <a:gd name="adj" fmla="val 6154"/>
            </a:avLst>
          </a:prstGeom>
          <a:solidFill>
            <a:srgbClr val="16A34A"/>
          </a:solidFill>
          <a:ln/>
        </p:spPr>
      </p:sp>
      <p:sp>
        <p:nvSpPr>
          <p:cNvPr id="42" name="Text 40"/>
          <p:cNvSpPr/>
          <p:nvPr/>
        </p:nvSpPr>
        <p:spPr>
          <a:xfrm>
            <a:off x="7726680" y="11155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72668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7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726680" y="15727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72400" y="18745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automático,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PDF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726680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Services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57200" y="3383280"/>
            <a:ext cx="8229600" cy="457200"/>
          </a:xfrm>
          <a:prstGeom prst="roundedRect">
            <a:avLst>
              <a:gd name="adj" fmla="val 12000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passo é rastreável. Nenhum dado "aparece do nada" — tudo tem origem, classificação e trilha de auditoria.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Print: Sidebar completa do DRE RAIZ mostrando todas as guias de navegação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16/32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TOUR: DRE RAIZ</a:t>
            </a:r>
            <a:endParaRPr lang="en-US" sz="3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reais, telas reais,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real no dia a dia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17/32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GERENCIAL — CORAÇÃO DO SISTEMA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530352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Print GRANDE: DRE Gerencial (SomaTagsView)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Modo Cenário (Real vs Orçado vs A-1)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Drill-down aberto em algum tag0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Filtros ativos no topo (marcas, filiais)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Cores de delta (verde/vermelho)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CalcRows (Margem, EBITDA)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60720" y="1005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Funcionalidades-chave: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60720" y="132588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modos: Consolidado, Cenário, Mês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filtros cascata (marca → filial)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tag0→tag01→tag02→tag03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Duplo clique → Lançamentos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Ctrl+Clique → somatório flutuante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fiel à tela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Fullscreen para apresentações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reordenáveis (drag)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CalcRows: Margem e EBITDA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 por centro de custo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18/32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LANÇAMENTOS — NÍVEL TRANSACIONAL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530352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Print GRANDE: TransactionsView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 filtros no topo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Tabela com colunas visíveis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Badges de status (Normal, Pendente, Manual)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Edição inline (modal aberto)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Seleção múltipla (checkbox)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Densidade compact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60720" y="1005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Funcionalidades-chave: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60720" y="132588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filtros combinados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sob demanda (não carrega tudo)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densidades: Comfort, Compact, Ultra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configuráveis (toggle + drag)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 inline com fila de aprovação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 em massa (bulk)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Rateio de transação (split)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Excel/CSV formatado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sync (Supabase)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Normal, Pendente, Ajustado, Manual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19/32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DESVIOS E JUSTIFICATIVAS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530352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Print: VarianceJustificationsView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(Tabela hierárquica: tag0 → tag01 → tag02 → marca)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3017520"/>
            <a:ext cx="530352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74320" y="3017520"/>
            <a:ext cx="5303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Print: Painel YTD colapsável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Síntese IA de justificativas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0" y="1005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0" y="132588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"Gerar Desvios" = snapshot da DRE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Hierarquia: tag0 → tag01 → tag02 → marca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Pacoteiros justificam folhas (tag02/03)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sintetiza cascata automática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Notificação email (Resend)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Versionamento: cada geração nova versão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Pendente → Justificado → Aprovado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automático com justificativas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YTD: visão acumulada Jan→mês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imutável por versão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20/32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 E CONFIGURAÇÃO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2011680" cy="1600200"/>
          </a:xfrm>
          <a:prstGeom prst="roundedRect">
            <a:avLst>
              <a:gd name="adj" fmla="val 4571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3533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XLSX, preview,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processing,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duplicatas via chave_id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2011680" cy="1600200"/>
          </a:xfrm>
          <a:prstGeom prst="roundedRect">
            <a:avLst>
              <a:gd name="adj" fmla="val 4571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051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68880" y="13533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(admin/manager/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viewer), permissões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marca/filial/tag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2011680" cy="1600200"/>
          </a:xfrm>
          <a:prstGeom prst="roundedRect">
            <a:avLst>
              <a:gd name="adj" fmla="val 4571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051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13533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Excel de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recorrentes, batch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update, log terminal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58000" y="1005840"/>
            <a:ext cx="2011680" cy="1600200"/>
          </a:xfrm>
          <a:prstGeom prst="roundedRect">
            <a:avLst>
              <a:gd name="adj" fmla="val 4571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051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13533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% por marca,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base, cálculo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 pg_cron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788920"/>
            <a:ext cx="2011680" cy="1600200"/>
          </a:xfrm>
          <a:prstGeom prst="roundedRect">
            <a:avLst>
              <a:gd name="adj" fmla="val 4571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4320" y="31363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Tributos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429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PIS/COFINS, ISS,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 por marca/filial,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batch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468880" y="2788920"/>
            <a:ext cx="2011680" cy="1600200"/>
          </a:xfrm>
          <a:prstGeom prst="roundedRect">
            <a:avLst>
              <a:gd name="adj" fmla="val 4571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468880" y="31363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60320" y="3429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24 colunas,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período,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CSV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2788920"/>
            <a:ext cx="2011680" cy="1600200"/>
          </a:xfrm>
          <a:prstGeom prst="roundedRect">
            <a:avLst>
              <a:gd name="adj" fmla="val 4571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63440" y="31363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3429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mensal,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+ reuniões,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colorido por área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858000" y="2788920"/>
            <a:ext cx="2011680" cy="1600200"/>
          </a:xfrm>
          <a:prstGeom prst="roundedRect">
            <a:avLst>
              <a:gd name="adj" fmla="val 4571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✉️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58000" y="31363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49440" y="3429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SES config,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notifications,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envio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21/32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E</a:t>
            </a:r>
            <a:endParaRPr lang="en-US" sz="3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para cada perfil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Cultura de Resultados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22/32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PERFIL: TIME OPERACIONAL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Quem: Analistas, assistentes, área operacional de cada marca/filial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63040"/>
          <a:ext cx="85953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 que faz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Onde faz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Depois (DRE RAIZ)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Lançar transações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Importação / Admin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Excel → email → aguardar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Upload direto + validação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Classificar contas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Automático (trigger)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Manual em planilha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Tag01/02/03 automáticos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Solicitar ajustes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TransactionsView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WhatsApp para gestor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Fila de aprovação formal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Justificar desvios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Justificativas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Reunião sem preparação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Justifica online + IA sintetiza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Consultar dados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DRE Gerencial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Esperar relatório de FP&amp;A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Self-service com filtros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657600"/>
            <a:ext cx="8229600" cy="457200"/>
          </a:xfrm>
          <a:prstGeom prst="roundedRect">
            <a:avLst>
              <a:gd name="adj" fmla="val 12000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Ganho principal: Autonomia com governança. O operacional não depende mais de intermediários para ver seus números.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23/32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PERFIL: GESTORES E GERENTES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Quem: Gerentes de área, coordenadores, gestores de marca/filial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63040"/>
          <a:ext cx="85953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 que faz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Onde faz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Depois (DRE RAIZ)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Aprovar ajustes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Aprovações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Via email sem contexto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De→Para visual + justificativa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Analisar performance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Dashboard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Planilha mensal estática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KPIs em tempo real + anomalias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Comparar cenários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DRE Cenário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Cruzar 3 planilhas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3 cenários lado a lado + delta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Gerar relatórios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Exports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Montar PPT manualmente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PPT automático com 1 clique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Projetar fechamento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Forecast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Feeling + calculadora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3 métodos + intervalo confiança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657600"/>
            <a:ext cx="8229600" cy="457200"/>
          </a:xfrm>
          <a:prstGeom prst="roundedRect">
            <a:avLst>
              <a:gd name="adj" fmla="val 12000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Ganho principal: Decisões mais rápidas e informadas. O gestor vê desvios, aprova mudanças e gera apresentações sem depender de FP&amp;A.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24/32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PERFIL: C-SUITE / DIRETORIA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Quem: CEO, CFO, VP, Diretores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63040"/>
          <a:ext cx="85953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 que faz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Onde faz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Depois (DRE RAIZ)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Visão consolidada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CEO Dashboard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Esperar email do CFO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Score + KPIs em tempo real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Análise de portfolio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Portfolio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Reunião 1h por marca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Ranking + risco por marca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Simular cenários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Simulação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Planilha one-off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6 cenários × 7 alavancas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Tomar decisões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Decisões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Intuição + experiência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Recomendações IA + tradeoffs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Stress test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Stress Test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Nunca feito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5 cenários por marca, impacto EBITDA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657600"/>
            <a:ext cx="8229600" cy="457200"/>
          </a:xfrm>
          <a:prstGeom prst="roundedRect">
            <a:avLst>
              <a:gd name="adj" fmla="val 12000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Ganho principal: Visibilidade total sem depender de intermediários. O CEO tem visão de portfolio, stress test e simulação na ponta dos dedos.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25/32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E</a:t>
            </a:r>
            <a:endParaRPr lang="en-US" sz="3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Rastreabilidade, auditoria e controles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garantem a integridade dos dados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26/32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IMPLEMENTADOS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1737360"/>
          </a:xfrm>
          <a:prstGeom prst="roundedRect">
            <a:avLst>
              <a:gd name="adj" fmla="val 4211"/>
            </a:avLst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SSO via Firebase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Supabase JWT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RLS por email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1737360"/>
          </a:xfrm>
          <a:prstGeom prst="roundedRect">
            <a:avLst>
              <a:gd name="adj" fmla="val 4211"/>
            </a:avLst>
          </a:prstGeom>
          <a:solidFill>
            <a:srgbClr val="1B75BB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6459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roles: admin, manager,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approver, viewer, pending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tag01/marca/filial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743200" cy="1737360"/>
          </a:xfrm>
          <a:prstGeom prst="roundedRect">
            <a:avLst>
              <a:gd name="adj" fmla="val 4211"/>
            </a:avLst>
          </a:prstGeom>
          <a:solidFill>
            <a:srgbClr val="F44C00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2648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6459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2 pessoas: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solicita ≠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aprova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2743200" cy="1737360"/>
          </a:xfrm>
          <a:prstGeom prst="roundedRect">
            <a:avLst>
              <a:gd name="adj" fmla="val 4211"/>
            </a:avLst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432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3566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manual_changes: quem,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quando, o quê, antes,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depois, justificativa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926080"/>
            <a:ext cx="2743200" cy="1737360"/>
          </a:xfrm>
          <a:prstGeom prst="roundedRect">
            <a:avLst>
              <a:gd name="adj" fmla="val 4211"/>
            </a:avLst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0040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3566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Security: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query filtrada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auth.email()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926080"/>
            <a:ext cx="2743200" cy="1737360"/>
          </a:xfrm>
          <a:prstGeom prst="roundedRect">
            <a:avLst>
              <a:gd name="adj" fmla="val 4211"/>
            </a:avLst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📸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2648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3566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Desvios imutáveis: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+ snapshot_at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foto do momento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27/32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E</a:t>
            </a:r>
            <a:endParaRPr lang="en-US" sz="3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ferramenta ainda pode evoluir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fortalecer a cultura de resultados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28/32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E OPORTUNIDADES DE MELHORIA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sugeridas para fortalecer a cultura: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por Centro de Custo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57276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orçado é a referência. Falta: metas intermediárias (trimestrais, por gestor) com acompanhamento e responsável.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955280" y="1417320"/>
            <a:ext cx="822960" cy="320040"/>
          </a:xfrm>
          <a:prstGeom prst="roundedRect">
            <a:avLst>
              <a:gd name="adj" fmla="val 11429"/>
            </a:avLst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14173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1920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1920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Não-Financeiros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12140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apenas financeiro. Falta: Alunos matriculados, NPS, evasão, ticket médio por filial — integrar no dashboard.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955280" y="1965960"/>
            <a:ext cx="822960" cy="320040"/>
          </a:xfrm>
          <a:prstGeom prst="roundedRect">
            <a:avLst>
              <a:gd name="adj" fmla="val 11429"/>
            </a:avLst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0" y="1965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4320" y="2468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2468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Proativos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26700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anomalias no dashboard (reativo). Falta: alertas push/email quando desvio excede threshold (ex: custo &gt;10% do orçado).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955280" y="2514600"/>
            <a:ext cx="822960" cy="320040"/>
          </a:xfrm>
          <a:prstGeom prst="roundedRect">
            <a:avLst>
              <a:gd name="adj" fmla="val 11429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0" y="25146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" y="3017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3017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OKRs Integrados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321868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sem framework de OKR. Falta: definir objetivos → key results → vincular a tag01/tag02 → dashboard de progresso.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55280" y="3063240"/>
            <a:ext cx="822960" cy="320040"/>
          </a:xfrm>
          <a:prstGeom prst="roundedRect">
            <a:avLst>
              <a:gd name="adj" fmla="val 11429"/>
            </a:avLst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0" y="3063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🤝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3566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Aprovação Orçamentária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376732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orçado é carregado sem aprovação formal. Falta: fluxo de revisão/aprovação do orçamento antes de virar referência.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955280" y="3611880"/>
            <a:ext cx="822960" cy="320040"/>
          </a:xfrm>
          <a:prstGeom prst="roundedRect">
            <a:avLst>
              <a:gd name="adj" fmla="val 11429"/>
            </a:avLst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7955280" y="36118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" y="4114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" y="4114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/ PWA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" y="431596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apenas web desktop. Falta: versão mobile para consulta rápida de KPIs e aprovações em trânsito.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955280" y="4160520"/>
            <a:ext cx="822960" cy="320040"/>
          </a:xfrm>
          <a:prstGeom prst="roundedRect">
            <a:avLst>
              <a:gd name="adj" fmla="val 11429"/>
            </a:avLst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7955280" y="4160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29/32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EVOLUÇÃO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1005840"/>
            <a:ext cx="2834640" cy="3657600"/>
          </a:xfrm>
          <a:prstGeom prst="roundedRect">
            <a:avLst>
              <a:gd name="adj" fmla="val 3226"/>
            </a:avLst>
          </a:prstGeom>
          <a:solidFill>
            <a:srgbClr val="F1F5F9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05840"/>
            <a:ext cx="2834640" cy="7315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0058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3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(Atual)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" y="14630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Jan-Mar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DRE Gerencial 3 cenários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+ CEO Dashboard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514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Aprovações + Justificativas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Forecast + IA Narrativa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154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Equipe Alpha (7 agentes)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474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PPT automático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4251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CONCLUÍDO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005840"/>
            <a:ext cx="2834640" cy="3657600"/>
          </a:xfrm>
          <a:prstGeom prst="roundedRect">
            <a:avLst>
              <a:gd name="adj" fmla="val 3226"/>
            </a:avLst>
          </a:prstGeom>
          <a:solidFill>
            <a:srgbClr val="F1F5F9"/>
          </a:solidFill>
          <a:ln w="25400">
            <a:solidFill>
              <a:srgbClr val="1B75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005840"/>
            <a:ext cx="2834640" cy="731520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10058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3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(Q2 2026)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14630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Abr-Jun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328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Metas por centro de custo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Alertas proativos (email/push)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2514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Indicadores não-financeiros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OKRs integrados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3154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Workflow orçamento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3474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mobile (PWA)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4251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7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PLANEJADO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1005840"/>
            <a:ext cx="2834640" cy="3657600"/>
          </a:xfrm>
          <a:prstGeom prst="roundedRect">
            <a:avLst>
              <a:gd name="adj" fmla="val 3226"/>
            </a:avLst>
          </a:prstGeom>
          <a:solidFill>
            <a:srgbClr val="F1F5F9"/>
          </a:solidFill>
          <a:ln w="25400">
            <a:solidFill>
              <a:srgbClr val="1B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1005840"/>
            <a:ext cx="283464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10058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3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(S2 2026)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17920" y="14630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Jul-Dez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Integração ERP (SAP/TOTVS)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 avançado (cross-filters)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2514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Planejamento de cenários LT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Machine Learning preditivo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3154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Benchmark setorial externo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3474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Gamificação de resultados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0" y="4251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VISÃO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"Cultura de Resultados não é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projeto de tecnologia.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mudança de comportamento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 tecnologia viabiliza."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2743200" cy="36576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DRE RAIZ é a ferramenta.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cultura somos nós.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número tem: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Uma origem rastreável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Uma classificação padronizada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Um responsável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Uma justificativa quando desvia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Uma projeção de futuro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Uma decisão informada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Cultura de Resultados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31/32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18288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construir juntos a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de Resultados da Raiz Educação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1828800" cy="36576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DRE RAIZ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https://dre-raiz.vercel.app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33832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a plataforma e explore!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tela tem ajuda contextual.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Raiz Educação S.A.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Cultura de Resultados — Treinamento Institucional</dc:title>
  <dc:subject>Treinamento sobre Cultura de Resultados usando a plataforma DRE RAIZ</dc:subject>
  <dc:creator>Raiz Educação S.A.</dc:creator>
  <cp:lastModifiedBy>Raiz Educação S.A.</cp:lastModifiedBy>
  <cp:revision>1</cp:revision>
  <dcterms:created xsi:type="dcterms:W3CDTF">2026-03-08T16:10:06Z</dcterms:created>
  <dcterms:modified xsi:type="dcterms:W3CDTF">2026-03-08T16:10:06Z</dcterms:modified>
</cp:coreProperties>
</file>