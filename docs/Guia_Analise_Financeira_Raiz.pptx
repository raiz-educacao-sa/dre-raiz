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ilson Sardeiro Serafim" userId="40f0c80b-9be5-4004-8889-df88a89d5d19" providerId="ADAL" clId="{C3AC9D9B-ECDA-4212-B5E1-FDC94CD840E8}"/>
    <pc:docChg chg="undo custSel modSld">
      <pc:chgData name="Edmilson Sardeiro Serafim" userId="40f0c80b-9be5-4004-8889-df88a89d5d19" providerId="ADAL" clId="{C3AC9D9B-ECDA-4212-B5E1-FDC94CD840E8}" dt="2026-03-13T16:39:19.800" v="129" actId="20577"/>
      <pc:docMkLst>
        <pc:docMk/>
      </pc:docMkLst>
      <pc:sldChg chg="delSp modSp mod">
        <pc:chgData name="Edmilson Sardeiro Serafim" userId="40f0c80b-9be5-4004-8889-df88a89d5d19" providerId="ADAL" clId="{C3AC9D9B-ECDA-4212-B5E1-FDC94CD840E8}" dt="2026-03-13T16:36:47.898" v="72" actId="1035"/>
        <pc:sldMkLst>
          <pc:docMk/>
          <pc:sldMk cId="0" sldId="259"/>
        </pc:sldMkLst>
        <pc:spChg chg="del">
          <ac:chgData name="Edmilson Sardeiro Serafim" userId="40f0c80b-9be5-4004-8889-df88a89d5d19" providerId="ADAL" clId="{C3AC9D9B-ECDA-4212-B5E1-FDC94CD840E8}" dt="2026-03-13T16:36:31.468" v="0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Edmilson Sardeiro Serafim" userId="40f0c80b-9be5-4004-8889-df88a89d5d19" providerId="ADAL" clId="{C3AC9D9B-ECDA-4212-B5E1-FDC94CD840E8}" dt="2026-03-13T16:36:31.468" v="0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Edmilson Sardeiro Serafim" userId="40f0c80b-9be5-4004-8889-df88a89d5d19" providerId="ADAL" clId="{C3AC9D9B-ECDA-4212-B5E1-FDC94CD840E8}" dt="2026-03-13T16:36:31.468" v="0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Edmilson Sardeiro Serafim" userId="40f0c80b-9be5-4004-8889-df88a89d5d19" providerId="ADAL" clId="{C3AC9D9B-ECDA-4212-B5E1-FDC94CD840E8}" dt="2026-03-13T16:36:31.468" v="0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Edmilson Sardeiro Serafim" userId="40f0c80b-9be5-4004-8889-df88a89d5d19" providerId="ADAL" clId="{C3AC9D9B-ECDA-4212-B5E1-FDC94CD840E8}" dt="2026-03-13T16:36:31.468" v="0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Edmilson Sardeiro Serafim" userId="40f0c80b-9be5-4004-8889-df88a89d5d19" providerId="ADAL" clId="{C3AC9D9B-ECDA-4212-B5E1-FDC94CD840E8}" dt="2026-03-13T16:36:31.468" v="0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Edmilson Sardeiro Serafim" userId="40f0c80b-9be5-4004-8889-df88a89d5d19" providerId="ADAL" clId="{C3AC9D9B-ECDA-4212-B5E1-FDC94CD840E8}" dt="2026-03-13T16:36:31.468" v="0" actId="478"/>
          <ac:spMkLst>
            <pc:docMk/>
            <pc:sldMk cId="0" sldId="259"/>
            <ac:spMk id="18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22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25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28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33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34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35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37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38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6:47.898" v="72" actId="1035"/>
          <ac:spMkLst>
            <pc:docMk/>
            <pc:sldMk cId="0" sldId="259"/>
            <ac:spMk id="39" creationId="{00000000-0000-0000-0000-000000000000}"/>
          </ac:spMkLst>
        </pc:spChg>
      </pc:sldChg>
      <pc:sldChg chg="modSp mod">
        <pc:chgData name="Edmilson Sardeiro Serafim" userId="40f0c80b-9be5-4004-8889-df88a89d5d19" providerId="ADAL" clId="{C3AC9D9B-ECDA-4212-B5E1-FDC94CD840E8}" dt="2026-03-13T16:37:41.584" v="77" actId="6549"/>
        <pc:sldMkLst>
          <pc:docMk/>
          <pc:sldMk cId="0" sldId="260"/>
        </pc:sldMkLst>
        <pc:spChg chg="mod">
          <ac:chgData name="Edmilson Sardeiro Serafim" userId="40f0c80b-9be5-4004-8889-df88a89d5d19" providerId="ADAL" clId="{C3AC9D9B-ECDA-4212-B5E1-FDC94CD840E8}" dt="2026-03-13T16:37:41.584" v="77" actId="6549"/>
          <ac:spMkLst>
            <pc:docMk/>
            <pc:sldMk cId="0" sldId="260"/>
            <ac:spMk id="12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7:08.265" v="73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7:10.132" v="74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Edmilson Sardeiro Serafim" userId="40f0c80b-9be5-4004-8889-df88a89d5d19" providerId="ADAL" clId="{C3AC9D9B-ECDA-4212-B5E1-FDC94CD840E8}" dt="2026-03-13T16:37:24.228" v="75" actId="1076"/>
          <ac:spMkLst>
            <pc:docMk/>
            <pc:sldMk cId="0" sldId="260"/>
            <ac:spMk id="21" creationId="{00000000-0000-0000-0000-000000000000}"/>
          </ac:spMkLst>
        </pc:spChg>
      </pc:sldChg>
      <pc:sldChg chg="modSp mod">
        <pc:chgData name="Edmilson Sardeiro Serafim" userId="40f0c80b-9be5-4004-8889-df88a89d5d19" providerId="ADAL" clId="{C3AC9D9B-ECDA-4212-B5E1-FDC94CD840E8}" dt="2026-03-13T16:37:29.143" v="76" actId="1076"/>
        <pc:sldMkLst>
          <pc:docMk/>
          <pc:sldMk cId="0" sldId="261"/>
        </pc:sldMkLst>
        <pc:spChg chg="mod">
          <ac:chgData name="Edmilson Sardeiro Serafim" userId="40f0c80b-9be5-4004-8889-df88a89d5d19" providerId="ADAL" clId="{C3AC9D9B-ECDA-4212-B5E1-FDC94CD840E8}" dt="2026-03-13T16:37:29.143" v="76" actId="1076"/>
          <ac:spMkLst>
            <pc:docMk/>
            <pc:sldMk cId="0" sldId="261"/>
            <ac:spMk id="17" creationId="{00000000-0000-0000-0000-000000000000}"/>
          </ac:spMkLst>
        </pc:spChg>
      </pc:sldChg>
      <pc:sldChg chg="modSp mod">
        <pc:chgData name="Edmilson Sardeiro Serafim" userId="40f0c80b-9be5-4004-8889-df88a89d5d19" providerId="ADAL" clId="{C3AC9D9B-ECDA-4212-B5E1-FDC94CD840E8}" dt="2026-03-13T16:38:10.137" v="92" actId="20577"/>
        <pc:sldMkLst>
          <pc:docMk/>
          <pc:sldMk cId="0" sldId="263"/>
        </pc:sldMkLst>
        <pc:spChg chg="mod">
          <ac:chgData name="Edmilson Sardeiro Serafim" userId="40f0c80b-9be5-4004-8889-df88a89d5d19" providerId="ADAL" clId="{C3AC9D9B-ECDA-4212-B5E1-FDC94CD840E8}" dt="2026-03-13T16:38:10.137" v="9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Edmilson Sardeiro Serafim" userId="40f0c80b-9be5-4004-8889-df88a89d5d19" providerId="ADAL" clId="{C3AC9D9B-ECDA-4212-B5E1-FDC94CD840E8}" dt="2026-03-13T16:39:19.800" v="129" actId="20577"/>
        <pc:sldMkLst>
          <pc:docMk/>
          <pc:sldMk cId="0" sldId="269"/>
        </pc:sldMkLst>
        <pc:spChg chg="mod">
          <ac:chgData name="Edmilson Sardeiro Serafim" userId="40f0c80b-9be5-4004-8889-df88a89d5d19" providerId="ADAL" clId="{C3AC9D9B-ECDA-4212-B5E1-FDC94CD840E8}" dt="2026-03-13T16:39:19.800" v="129" actId="20577"/>
          <ac:spMkLst>
            <pc:docMk/>
            <pc:sldMk cId="0" sldId="26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696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Análise Financeira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Corte DRE, Justificativas de Desvios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Apresentação Executiva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2743200" cy="36576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Financeiro — Raiz Educação S.A.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1.0 — Março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Processo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55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por que existe, fluxo mensal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DRE — Foto do Mês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5328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foto é gerada e o que ela representa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Justificativas de Desvios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310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dos 5%, como preencher, exemplos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(5W1H)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087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Metodologia, campos obrigatórios, revisão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prazos e responsabilidades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349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 &amp; Slides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641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com IA para reuniões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Processo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Análise Financeira?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processo mensal onde o Planejamento Financeiro congela os resultados da DRE ("Foto") e os responsáveis de cada pacote justificam os desvios encontrados, propondo planos de ação concretos.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Garantir rastreabilidade de todo desvio relevante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Documentar causas e ações corretivas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Alimentar automaticamente a apresentação executiva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histórico para melhoria contínua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Mensal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155448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0C0C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583680" y="1554480"/>
            <a:ext cx="73152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DRE Gerencial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Lançamentos e ajustes diários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42316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0C0C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583680" y="2423160"/>
            <a:ext cx="73152" cy="685800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Foto / Corte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 congela valores do mês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0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29184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0C0C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583680" y="3291840"/>
            <a:ext cx="73152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Justificativas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611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Pacoteiros justificam desvios &gt;5%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0" y="393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416052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0C0C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583680" y="4160520"/>
            <a:ext cx="73152" cy="6858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5800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Revisão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4480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 aprova ou rejeita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5029200"/>
            <a:ext cx="48463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0C0C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583680" y="5029200"/>
            <a:ext cx="73152" cy="6858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858000" y="5029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Apresentação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5349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automático para reunião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— 5 Abas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73152" cy="822960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DRE (Justificativas)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desvios congelados para justificativa e plano de ação. Aba principal do processo.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875520" y="1463040"/>
            <a:ext cx="1188720" cy="411480"/>
          </a:xfrm>
          <a:prstGeom prst="roundRect">
            <a:avLst>
              <a:gd name="adj" fmla="val 44444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875520" y="1463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23739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31520" y="2237390"/>
            <a:ext cx="73152" cy="822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05840" y="223739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45920" y="228311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264887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narrativo gerado por IA a partir do snapshot do mês.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75520" y="2420270"/>
            <a:ext cx="1188720" cy="411480"/>
          </a:xfrm>
          <a:prstGeom prst="roundRect">
            <a:avLst>
              <a:gd name="adj" fmla="val 44444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875520" y="242027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324323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731520" y="3243230"/>
            <a:ext cx="73152" cy="8229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005840" y="324323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645920" y="328895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45920" y="365471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de todos os planos 5W1H para acompanhamento e revisão.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75520" y="3426110"/>
            <a:ext cx="1188720" cy="411480"/>
          </a:xfrm>
          <a:prstGeom prst="roundRect">
            <a:avLst>
              <a:gd name="adj" fmla="val 44444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875520" y="342611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24907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31520" y="424907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1005840" y="424907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645920" y="429479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de Análise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645920" y="466055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executivo automático com dados, justificativas e insights IA.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875520" y="4431950"/>
            <a:ext cx="1188720" cy="411480"/>
          </a:xfrm>
          <a:prstGeom prst="roundRect">
            <a:avLst>
              <a:gd name="adj" fmla="val 44444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9875520" y="443195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DRE — Como a Foto é Gerada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DRE Gerencial, selecione exatamente 1 mês no filtro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"Foto" (📸) — disponível apenas para Admin/PlanFin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423160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377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grava um snapshot isolado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daquele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mês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971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ficam congelados — referência oficial para justificativas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10725912" cy="1280160"/>
          </a:xfrm>
          <a:prstGeom prst="roundRect">
            <a:avLst>
              <a:gd name="adj" fmla="val 10714"/>
            </a:avLst>
          </a:prstGeom>
          <a:solidFill>
            <a:srgbClr val="FFF7ED"/>
          </a:solidFill>
          <a:ln w="19050">
            <a:solidFill>
              <a:srgbClr val="F44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097280" y="366666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Importantes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973521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mês tem sua própria foto — Jan grava só Jan, Fev grava só Fev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painel "Consolidado YTD" (parte inferior) soma automaticamente os meses com foto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foto pode ser re-gerada (nova versão), preservando justificativas já escritas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Valores do snapshot são a referência oficial — não mudam após geração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da Tabela de Desvios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486400"/>
          <a:ext cx="10725912" cy="1097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3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 RECEITA LÍQUIDA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principal DRE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Folha (Funcionários)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custo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Ensino Fundamental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— NÍVEL DE JUSTIFICATIVA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AP, CLV, GEU, GT...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de negócio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Obrigatoriedade — Threshold 5%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&gt; +5% ou &lt; -5%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Justificativa textual obrigatória (mín. 20 caracteres)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Plano de Ação 5W1H obrigatório para desvios negativos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Itens aparecem com badge vermelho "Obrigatória"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Contados no alerta de pendências do topo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18872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11112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11112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entre -5% e +5%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031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Justificativa pode ser preenchida, mas não é exigida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Plano de Ação opcional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Incentivamos o preenchimento para completude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bloqueia aprovação do mês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9728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Cobrança Atual: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251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Tag02 + Marca — As justificativas são exigidas no nível de segmento (Tag02) por marca. Níveis superiores (Tag01 e Tag0) são sintetizados automaticamente pela IA.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Prático: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394960"/>
          <a:ext cx="10725912" cy="12801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Orçado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Obrigatório?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Folha (Funcionários) — 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-1.250.000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Didático — CLV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(&lt; 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Matrícula — GT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Justificar um Desvio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 tabela de desvios, localize o item atribuído a você (filtre por "Pendente")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Clique no botão de ação (ícone de lápis) na linha do desvio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Preencha a justificativa textual (mínimo 20 caracteres)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 desvio negativo: preencha o Plano de Ação 5W1H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Clique em "Salvar" — status muda para "Justificado"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75120" y="1005840"/>
            <a:ext cx="4782312" cy="1097280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9494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a IA!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417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"Melhorar com IA" refina seu texto e pode gerar automaticamente o plano 5W1H com base no contexto do desvio.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Boas Justificativas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91840"/>
          <a:ext cx="10725912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5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Folha (Funcionários)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Contratação não prevista de 3 professores para turma extra aberta em Fev/26 devido à demanda acima do esperado no Ensino Fundamental. Impacto de R$ 45k/mês.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Didático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Renegociação com fornecedor XYZ resultou em desconto de 15% no lote de apostilas do 1º semestre. Economia de R$ 32k.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Líquida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Inadimplência acima do esperado na marca GT (3,2% vs 1,8% orçado). 47 alunos com mensalidade em atraso &gt; 60 dias.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31520" y="5212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55321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"Custo acima do orçado" (repete o número, não explica)     ✗ "Variação normal" (toda variação tem causa)     ✗ "Vou verificar" (não é justificativa)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— </a:t>
            </a: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5W1H - </a:t>
            </a: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para desvios negativos (custo acima ou receita abaixo do orçado)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4864" cy="685800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5840" y="1389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(O que)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a ação corretiva a ser implementada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"Renegociar contrato de energia e implementar programa de eficiência energética"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54864" cy="685800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05840" y="22128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(Por que)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240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objetivo da ação?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2860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"Reduzir custo de energia em 15% até Jun/26, alinhando ao orçamento"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05840" y="3035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(Como)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3063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de execução detalhados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108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"1) Cotar 3 fornecedores; 2) Instalar sensores; 3) Revisar horários AC"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31520" y="3840480"/>
            <a:ext cx="54864" cy="685800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005840" y="3858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(Quem)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886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pela execução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9319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"Maria Silva — Gerente de Facilities"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66344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31520" y="4663440"/>
            <a:ext cx="54864" cy="685800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05840" y="4681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(Quando)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4709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0584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para conclusão (default: +30 dias)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47548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"30/04/2026"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5486400"/>
            <a:ext cx="10725912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731520" y="548640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005840" y="5504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00400" y="5532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0584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financeiro esperado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55778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"Redução de R$ 18k/mês a partir de Mai/26"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— Revisão e Acompanhamento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E8E8E8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1207008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115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3898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 cria justificativa + plano de ação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123444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7512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E8E8E8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914400" y="2029968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pelo PlanFin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2128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 avalia pertinência, clareza e viabilidade do plano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205740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75120" y="2057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E8E8E8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2761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ou Rejeição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0358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aprovado: segue para acompanhamento. Se rejeitado: pacoteiro ajusta e resubmete.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88036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67512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56616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E8E8E8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914400" y="3675888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14400" y="3675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3584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Mensal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3858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reunião de resultado, planos "Em andamento" e "Atrasados" são discutidos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370332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67512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38912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E8E8E8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914400" y="4498848"/>
            <a:ext cx="365760" cy="365760"/>
          </a:xfrm>
          <a:prstGeom prst="ellipse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14400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6304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63040" y="4681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atualiza status para "Concluído" e registra resultado efetivo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75120" y="4526280"/>
            <a:ext cx="1097280" cy="32004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675120" y="4526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Plano de Ação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03920" y="164592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8686800" y="1737360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905256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332720" y="1645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Recém criado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503920" y="214884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8686800" y="224028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05256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332720" y="2148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Sendo executado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503920" y="265176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8686800" y="274320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905256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3272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finalizada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503920" y="315468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8686800" y="324612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905256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332720" y="3154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 do prazo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503920" y="365760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8686800" y="374904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905256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332720" y="3657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Descontinuado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0" y="5486400"/>
            <a:ext cx="10725912" cy="73152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44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1097280" y="5577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de Ação será avaliado e discutido com o Planejamento Financeiro para aprovação e acompanhamento. O objetivo é garantir que as ações propostas sejam viáveis, mensuráveis e com prazo definido. Planos aprovados são monitorados mensalmente.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Status — Justificativas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011680" cy="109728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justificativa do pacoteiro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BD5E1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017520" y="1371600"/>
            <a:ext cx="2011680" cy="109728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01752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enviado ao responsável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BD5E1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303520" y="1371600"/>
            <a:ext cx="2011680" cy="109728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0352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 preencheu justificativa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BD5E1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2011680" cy="109728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04672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 aprovou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04672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 informa motivo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Pacoteiro pode resubmeter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2626"/>
                </a:solidFill>
              </a:rPr>
              <a:t>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Automática por 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4805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TODAS as justificativas de nível Tag02+Marca de um Tag01 estão preenchidas,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gera automaticamente uma síntese consolidada usando IA (Claude Haiku):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Tag02+Marca (pacoteiro escreve)  →  Tag01 (IA sintetiza)  →  Tag0 (IA sintetiza)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síntese é usada automaticamente nos Slides de Análise e no PPT Executivo.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 — Gerado por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Sumário Executivo é um resumo narrativo completo gerado por Inteligência Artificial que analisa todo o contexto dos dados financeiros do snapshot selecionado.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analisa: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Panorama geral do resultado do mês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Principais desvios positivos e negativos com 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Comparação vs Orçado e vs Ano Anterior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Riscos e oportunidades identificados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Recomendações de ação baseadas nos dados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Selecione o mês nos filtros do topo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Opcionalmente selecione uma marca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Clique em "Gerar Sumário Executivo"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 sistema analisa os dados e gera o resumo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Clique em "Regerar" para atualizar se necessário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deve usar: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PlanFin: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narrativa para reunião de resultados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5120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rápida do mês sem navegar toda a DRE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5486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executivo antes da reunião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de Análise — PPT Automático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automaticamente a apresentação executiva no padrão PlanFin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280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mês, marca, versão da foto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057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condensada Tag0 + KPIs (EBITDA, Margem, Cobertura)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834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por Tag0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Tag01 + Síntese IA + Top 3 Desvios com justificativas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3611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3611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Tag01 &gt; Tag02 &gt; Marca com valores e justificativas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389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por Marca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4389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Real vs Orçado vs A-1 por marca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166360"/>
            <a:ext cx="10725912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14400" y="5166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5166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Final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5166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cobertura + Top desvios não justificados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48640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097280" y="5532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Automática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5852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Justificativas dos pacoteiros → slides de detalhamento  |  Sínteses IA → slides de seção  |  Planos de Ação → referenciados nos desvios  |  Dados da Foto → valores congelados garantem consistência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Mensal Sugerido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725912" cy="4023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Conferência final dos lançamentos do mês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Pacoteiros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da Foto na DRE Gerencial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PlanFin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Notificação automática aos pacoteiros (email)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Automático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D+2 a D+7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Preenchimento de justificativas + planos de 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Pacoteiros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D+8 a D+9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e aprovação das justificativas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PlanFin / Gestores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do PPT Executivo automático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PlanFin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44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D+10 a D+12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Reunião de 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Diretoria + Gestores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— Planejamento Financeiro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926080"/>
            <a:ext cx="2743200" cy="36576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Processo:   Planejamento Financeiro</a:t>
            </a:r>
            <a:endParaRPr lang="en-US" sz="1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Sistema:     dre-raiz.vercel.app</a:t>
            </a:r>
            <a:endParaRPr lang="en-US" sz="1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Suporte:     Time do Planejamento Financeiro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Educação S.A. — Março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44C0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1777</Words>
  <Application>Microsoft Office PowerPoint</Application>
  <PresentationFormat>Widescreen</PresentationFormat>
  <Paragraphs>343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Edmilson Serafim</cp:lastModifiedBy>
  <cp:revision>1</cp:revision>
  <dcterms:created xsi:type="dcterms:W3CDTF">2026-03-13T16:32:05Z</dcterms:created>
  <dcterms:modified xsi:type="dcterms:W3CDTF">2026-03-13T16:39:22Z</dcterms:modified>
</cp:coreProperties>
</file>