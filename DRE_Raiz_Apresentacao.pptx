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2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1B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257800"/>
            <a:ext cx="12188952" cy="73152"/>
          </a:xfrm>
          <a:prstGeom prst="rect">
            <a:avLst/>
          </a:prstGeom>
          <a:solidFill>
            <a:srgbClr val="4AC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73152" cy="3840480"/>
          </a:xfrm>
          <a:prstGeom prst="rect">
            <a:avLst/>
          </a:prstGeom>
          <a:solidFill>
            <a:srgbClr val="F44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05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C8F4"/>
                </a:solidFill>
              </a:rPr>
              <a:t>RAIZ EDUCACAO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DRE Gerencial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718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4AC8F4"/>
                </a:solidFill>
              </a:rPr>
              <a:t>Plataforma de Gestao Financeira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66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0"/>
                </a:solidFill>
              </a:rPr>
              <a:t>Analise  .  Controle  .  Decisao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577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DEE"/>
                </a:solidFill>
              </a:rPr>
              <a:t>Confidencial  |  Raiz Educacao S.A.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2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4AC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F44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O que e a Plataforma?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39496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5394960" cy="73152"/>
          </a:xfrm>
          <a:prstGeom prst="rect">
            <a:avLst/>
          </a:prstGeom>
          <a:solidFill>
            <a:srgbClr val="1B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75BB"/>
                </a:solidFill>
              </a:rPr>
              <a:t>VISAO GERAL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A plataforma DRE Gerencial e um sistema web desenvolvido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exclusivamente para a Raiz Educacao, com o objetivo de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centralizar e simplificar a gestao financeira da empresa.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Integrada ao banco de dados Supabase e protegida por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autenticacao Firebase, a ferramenta consolida dados de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receitas, custos e despesas em tempo real, permitindo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analises gerenciais por cenario, marca, filial e categoria.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Acessivel por qualquer dispositivo via navegador, sem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necessidade de instalacao ou configuracao local.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234440"/>
            <a:ext cx="557784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234440"/>
            <a:ext cx="5577840" cy="73152"/>
          </a:xfrm>
          <a:prstGeom prst="rect">
            <a:avLst/>
          </a:prstGeom>
          <a:solidFill>
            <a:srgbClr val="F44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371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4C00"/>
                </a:solidFill>
              </a:rPr>
              <a:t>PRINCIPAIS CARACTERISTICAS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828800"/>
            <a:ext cx="5257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  100% web  -  acesso via dre-raiz.vercel.app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  Dados em tempo real direto do Supabase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  Controle de acesso por perfil de usuario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  Admin  /  Aprovador  /  Usuario padrao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  Visao consolidada ou por cenario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  Real, Orcado e Ano Anterior (A-1)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  Drill-down por marca, filial, fornecedor e tag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  Exportacao para Excel com formatacao profissional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  Fluxo de aprovacao de ajustes com rastreabilidade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  Rateio automatico de custos administrativos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  Dashboard com KPIs executivos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2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4AC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F44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Modulos da Plataforma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365760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97280"/>
            <a:ext cx="3657600" cy="411480"/>
          </a:xfrm>
          <a:prstGeom prst="rect">
            <a:avLst/>
          </a:prstGeom>
          <a:solidFill>
            <a:srgbClr val="1B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17043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DRE Gerencial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600200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</a:rPr>
              <a:t>Demonstrativo de resultado com 3 modos:</a:t>
            </a:r>
          </a:p>
          <a:p>
            <a:pPr algn="l"/>
            <a:r>
              <a:rPr sz="1050" b="0">
                <a:solidFill>
                  <a:srgbClr val="1A1A2E"/>
                </a:solidFill>
              </a:rPr>
              <a:t>Consolidado, por Cenario e por Mes.</a:t>
            </a:r>
          </a:p>
          <a:p>
            <a:pPr algn="l"/>
            <a:r>
              <a:rPr sz="1050" b="0">
                <a:solidFill>
                  <a:srgbClr val="1A1A2E"/>
                </a:solidFill>
              </a:rPr>
              <a:t>Drill-down por marca, filial, fornecedor</a:t>
            </a:r>
          </a:p>
          <a:p>
            <a:pPr algn="l"/>
            <a:r>
              <a:rPr sz="1050" b="0">
                <a:solidFill>
                  <a:srgbClr val="1A1A2E"/>
                </a:solidFill>
              </a:rPr>
              <a:t>e tags. Export Excel fiel a tela.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097280"/>
            <a:ext cx="365760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097280"/>
            <a:ext cx="3657600" cy="411480"/>
          </a:xfrm>
          <a:prstGeom prst="rect">
            <a:avLst/>
          </a:prstGeom>
          <a:solidFill>
            <a:srgbClr val="F44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17043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Lancamentos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1600200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</a:rPr>
              <a:t>Tabela completa de transacoes.</a:t>
            </a:r>
          </a:p>
          <a:p>
            <a:pPr algn="l"/>
            <a:r>
              <a:rPr sz="1050" b="0">
                <a:solidFill>
                  <a:srgbClr val="1A1A2E"/>
                </a:solidFill>
              </a:rPr>
              <a:t>Filtros avancados por 14 dimensoes.</a:t>
            </a:r>
          </a:p>
          <a:p>
            <a:pPr algn="l"/>
            <a:r>
              <a:rPr sz="1050" b="0">
                <a:solidFill>
                  <a:srgbClr val="1A1A2E"/>
                </a:solidFill>
              </a:rPr>
              <a:t>Solicitacao de ajustes com fluxo de</a:t>
            </a:r>
          </a:p>
          <a:p>
            <a:pPr algn="l"/>
            <a:r>
              <a:rPr sz="1050" b="0">
                <a:solidFill>
                  <a:srgbClr val="1A1A2E"/>
                </a:solidFill>
              </a:rPr>
              <a:t>aprovacao. Edicao em massa.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097280"/>
            <a:ext cx="365760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097280"/>
            <a:ext cx="3657600" cy="41148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17043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Aprovacoes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600200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</a:rPr>
              <a:t>Fila de solicitacoes pendentes.</a:t>
            </a:r>
          </a:p>
          <a:p>
            <a:pPr algn="l"/>
            <a:r>
              <a:rPr sz="1050" b="0">
                <a:solidFill>
                  <a:srgbClr val="1A1A2E"/>
                </a:solidFill>
              </a:rPr>
              <a:t>Aprovacao individual ou em massa.</a:t>
            </a:r>
          </a:p>
          <a:p>
            <a:pPr algn="l"/>
            <a:r>
              <a:rPr sz="1050" b="0">
                <a:solidFill>
                  <a:srgbClr val="1A1A2E"/>
                </a:solidFill>
              </a:rPr>
              <a:t>Rastreabilidade completa:</a:t>
            </a:r>
          </a:p>
          <a:p>
            <a:pPr algn="l"/>
            <a:r>
              <a:rPr sz="1050" b="0">
                <a:solidFill>
                  <a:srgbClr val="1A1A2E"/>
                </a:solidFill>
              </a:rPr>
              <a:t>quem, quando e o que foi alterado.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749039"/>
            <a:ext cx="365760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749039"/>
            <a:ext cx="3657600" cy="41148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3822191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4251959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</a:rPr>
              <a:t>KPIs executivos: Receita, CV, CF,</a:t>
            </a:r>
          </a:p>
          <a:p>
            <a:pPr algn="l"/>
            <a:r>
              <a:rPr sz="1050" b="0">
                <a:solidFill>
                  <a:srgbClr val="1A1A2E"/>
                </a:solidFill>
              </a:rPr>
              <a:t>EBITDA calculados em tempo real.</a:t>
            </a:r>
          </a:p>
          <a:p>
            <a:pPr algn="l"/>
            <a:r>
              <a:rPr sz="1050" b="0">
                <a:solidFill>
                  <a:srgbClr val="1A1A2E"/>
                </a:solidFill>
              </a:rPr>
              <a:t>Mesmos dados do DRE Gerencial.</a:t>
            </a:r>
          </a:p>
          <a:p>
            <a:pPr algn="l"/>
            <a:r>
              <a:rPr sz="1050" b="0">
                <a:solidFill>
                  <a:srgbClr val="1A1A2E"/>
                </a:solidFill>
              </a:rPr>
              <a:t>Visao rapida do desempenho anual.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3749039"/>
            <a:ext cx="365760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06240" y="3749039"/>
            <a:ext cx="3657600" cy="41148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3822191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Painel Admin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251959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</a:rPr>
              <a:t>Importacao de dados via planilha.</a:t>
            </a:r>
          </a:p>
          <a:p>
            <a:pPr algn="l"/>
            <a:r>
              <a:rPr sz="1050" b="0">
                <a:solidFill>
                  <a:srgbClr val="1A1A2E"/>
                </a:solidFill>
              </a:rPr>
              <a:t>Gerenciamento de usuarios e perfis.</a:t>
            </a:r>
          </a:p>
          <a:p>
            <a:pPr algn="l"/>
            <a:r>
              <a:rPr sz="1050" b="0">
                <a:solidFill>
                  <a:srgbClr val="1A1A2E"/>
                </a:solidFill>
              </a:rPr>
              <a:t>Exportacao do banco com filtros.</a:t>
            </a:r>
          </a:p>
          <a:p>
            <a:pPr algn="l"/>
            <a:r>
              <a:rPr sz="1050" b="0">
                <a:solidFill>
                  <a:srgbClr val="1A1A2E"/>
                </a:solidFill>
              </a:rPr>
              <a:t>Central de configuracao.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3749039"/>
            <a:ext cx="3657600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3749039"/>
            <a:ext cx="365760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3822191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Analise de 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4251959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</a:rPr>
              <a:t>Narrativas automaticas sobre o DRE.</a:t>
            </a:r>
          </a:p>
          <a:p>
            <a:pPr algn="l"/>
            <a:r>
              <a:rPr sz="1050" b="0">
                <a:solidFill>
                  <a:srgbClr val="1A1A2E"/>
                </a:solidFill>
              </a:rPr>
              <a:t>Powered by Claude (Anthropic).</a:t>
            </a:r>
          </a:p>
          <a:p>
            <a:pPr algn="l"/>
            <a:r>
              <a:rPr sz="1050" b="0">
                <a:solidFill>
                  <a:srgbClr val="1A1A2E"/>
                </a:solidFill>
              </a:rPr>
              <a:t>Contexto filtrado por sessao ativa.</a:t>
            </a:r>
          </a:p>
          <a:p>
            <a:pPr algn="l"/>
            <a:r>
              <a:rPr sz="1050" b="0">
                <a:solidFill>
                  <a:srgbClr val="1A1A2E"/>
                </a:solidFill>
              </a:rPr>
              <a:t>Historico de analises salvo.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2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4AC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F44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DRE Gerencial  -  Funcionalidades em Detalhe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887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C8F4"/>
                </a:solidFill>
              </a:rPr>
              <a:t>FILTROS DISPONIVEIS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57276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Ano de referencia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92024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Periodo: Mes De / 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26771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Marca (cascata)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615184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Filial (cascata da Marca)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962656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Tag01  -  categoria gerencial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31012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Tag02  -  subcategoria (multi)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65760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Tag03  -  detalhe adicional (multi)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00507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Recorrencia: Sim / Nao / Todos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11887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C8F4"/>
                </a:solidFill>
              </a:rPr>
              <a:t>MODOS DE VISAO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1572768"/>
            <a:ext cx="3017520" cy="713232"/>
          </a:xfrm>
          <a:prstGeom prst="rect">
            <a:avLst/>
          </a:prstGeom>
          <a:solidFill>
            <a:srgbClr val="1B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16184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Consolidado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19019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C8F4"/>
                </a:solidFill>
              </a:rPr>
              <a:t>Real + Orcado + A-1 lado a lado com deltas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720" y="2414016"/>
            <a:ext cx="3017520" cy="713232"/>
          </a:xfrm>
          <a:prstGeom prst="rect">
            <a:avLst/>
          </a:prstGeom>
          <a:solidFill>
            <a:srgbClr val="1B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245973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Por Cenario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743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C8F4"/>
                </a:solidFill>
              </a:rPr>
              <a:t>Visualizacao focada em um unico cenario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0" y="3255264"/>
            <a:ext cx="3017520" cy="713232"/>
          </a:xfrm>
          <a:prstGeom prst="rect">
            <a:avLst/>
          </a:prstGeom>
          <a:solidFill>
            <a:srgbClr val="1B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33009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Por 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35844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C8F4"/>
                </a:solidFill>
              </a:rPr>
              <a:t>Evolucao mensal de cada linha Tag01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18872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C8F4"/>
                </a:solidFill>
              </a:rPr>
              <a:t>DRILL-DOWN E EXPORT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1572768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  Clique na linha para expandir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920240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  Niveis: Marca  Filial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267712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  Fornecedor  Tag02  Tag03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615184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  Ctrl+Clique soma celulas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962656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  Ordenacao A-Z ou por valor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310128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  Tela cheia (fullscreen)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657600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  Export Excel com estilos 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4005072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  drill-down abertos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617720"/>
            <a:ext cx="11640312" cy="54864"/>
          </a:xfrm>
          <a:prstGeom prst="rect">
            <a:avLst/>
          </a:prstGeom>
          <a:solidFill>
            <a:srgbClr val="F44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47365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C8F4"/>
                </a:solidFill>
              </a:rPr>
              <a:t>LINHAS CALCULADAS AUTOMATICAS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120640"/>
            <a:ext cx="3657600" cy="1463040"/>
          </a:xfrm>
          <a:prstGeom prst="rect">
            <a:avLst/>
          </a:prstGeom>
          <a:solidFill>
            <a:srgbClr val="1B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" y="5120640"/>
            <a:ext cx="3657600" cy="54864"/>
          </a:xfrm>
          <a:prstGeom prst="rect">
            <a:avLst/>
          </a:prstGeom>
          <a:solidFill>
            <a:srgbClr val="F44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79" y="523036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Margem de Contribuicao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79" y="5669280"/>
            <a:ext cx="3429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C8F4"/>
                </a:solidFill>
              </a:rPr>
              <a:t>Receita + Custos Variaveis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51376" y="5120640"/>
            <a:ext cx="3657600" cy="1463040"/>
          </a:xfrm>
          <a:prstGeom prst="rect">
            <a:avLst/>
          </a:prstGeom>
          <a:solidFill>
            <a:srgbClr val="1B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51376" y="5120640"/>
            <a:ext cx="3657600" cy="54864"/>
          </a:xfrm>
          <a:prstGeom prst="rect">
            <a:avLst/>
          </a:prstGeom>
          <a:solidFill>
            <a:srgbClr val="F44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88536" y="523036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EBITDA (S/ Rateio Raiz CSC)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88536" y="5669280"/>
            <a:ext cx="3429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C8F4"/>
                </a:solidFill>
              </a:rPr>
              <a:t>Margem + Custos Fixos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28432" y="5120640"/>
            <a:ext cx="3657600" cy="1463040"/>
          </a:xfrm>
          <a:prstGeom prst="rect">
            <a:avLst/>
          </a:prstGeom>
          <a:solidFill>
            <a:srgbClr val="1B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28432" y="5120640"/>
            <a:ext cx="3657600" cy="54864"/>
          </a:xfrm>
          <a:prstGeom prst="rect">
            <a:avLst/>
          </a:prstGeom>
          <a:solidFill>
            <a:srgbClr val="F44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65592" y="5230368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Rateio Raiz ADM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65592" y="5669280"/>
            <a:ext cx="3429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AC8F4"/>
                </a:solidFill>
              </a:rPr>
              <a:t>Distribuicao automatica a cada 15 min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2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4AC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F44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Fluxo de Ajustes e Aprovacoes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280160"/>
            <a:ext cx="265176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280160"/>
            <a:ext cx="2651760" cy="960120"/>
          </a:xfrm>
          <a:prstGeom prst="rect">
            <a:avLst/>
          </a:prstGeom>
          <a:solidFill>
            <a:srgbClr val="1B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2588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426464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USUARIO</a:t>
            </a:r>
          </a:p>
          <a:p>
            <a:pPr algn="l"/>
            <a:r>
              <a:rPr sz="1300" b="1">
                <a:solidFill>
                  <a:srgbClr val="FFFFFF"/>
                </a:solidFill>
              </a:rPr>
              <a:t>SOLICITA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37744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Abre o lancamento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e clica em Solicitar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Ajuste. Preenche os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campos alterados e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uma justificativa.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3512" y="24688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75BB"/>
                </a:solidFill>
              </a:rPr>
              <a:t>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54680" y="1280160"/>
            <a:ext cx="265176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54680" y="1280160"/>
            <a:ext cx="2651760" cy="960120"/>
          </a:xfrm>
          <a:prstGeom prst="rect">
            <a:avLst/>
          </a:prstGeom>
          <a:solidFill>
            <a:srgbClr val="F44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32588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1426464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FILA DE</a:t>
            </a:r>
          </a:p>
          <a:p>
            <a:pPr algn="l"/>
            <a:r>
              <a:rPr sz="1300" b="1">
                <a:solidFill>
                  <a:srgbClr val="FFFFFF"/>
                </a:solidFill>
              </a:rPr>
              <a:t>APROVACAO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37744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A solicitacao entra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com status Pendente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na guia Aprovacoes,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com registro de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data e solicitante.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24688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75BB"/>
                </a:solidFill>
              </a:rPr>
              <a:t>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1280160"/>
            <a:ext cx="265176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80760" y="1280160"/>
            <a:ext cx="2651760" cy="960120"/>
          </a:xfrm>
          <a:prstGeom prst="rect">
            <a:avLst/>
          </a:prstGeom>
          <a:solidFill>
            <a:srgbClr val="1B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32588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1426464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APROVADOR</a:t>
            </a:r>
          </a:p>
          <a:p>
            <a:pPr algn="l"/>
            <a:r>
              <a:rPr sz="1300" b="1">
                <a:solidFill>
                  <a:srgbClr val="FFFFFF"/>
                </a:solidFill>
              </a:rPr>
              <a:t>ANALISA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37744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Admin ou Aprovador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visualiza o antes e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depois de cada campo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e decide aprovar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ou reprovar.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05672" y="24688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75BB"/>
                </a:solidFill>
              </a:rPr>
              <a:t>&gt;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06840" y="1280160"/>
            <a:ext cx="265176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06840" y="1280160"/>
            <a:ext cx="2651760" cy="96012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132588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1426464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APLICADO</a:t>
            </a:r>
          </a:p>
          <a:p>
            <a:pPr algn="l"/>
            <a:r>
              <a:rPr sz="1300" b="1">
                <a:solidFill>
                  <a:srgbClr val="FFFFFF"/>
                </a:solidFill>
              </a:rPr>
              <a:t>NO BANCO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377440"/>
            <a:ext cx="2331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</a:rPr>
              <a:t>Dado atualizado na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transacao original,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status Ajustado e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justificativa salva</a:t>
            </a:r>
          </a:p>
          <a:p>
            <a:pPr algn="l"/>
            <a:r>
              <a:rPr sz="1100" b="0">
                <a:solidFill>
                  <a:srgbClr val="1A1A2E"/>
                </a:solidFill>
              </a:rPr>
              <a:t>no lancamento.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5532120"/>
            <a:ext cx="11731752" cy="1143000"/>
          </a:xfrm>
          <a:prstGeom prst="rect">
            <a:avLst/>
          </a:prstGeom>
          <a:solidFill>
            <a:srgbClr val="152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59612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C8F4"/>
                </a:solidFill>
              </a:rPr>
              <a:t>TIPOS DE AJUSTE SUPORTADOS: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6007608"/>
            <a:ext cx="1508760" cy="475488"/>
          </a:xfrm>
          <a:prstGeom prst="rect">
            <a:avLst/>
          </a:prstGeom>
          <a:solidFill>
            <a:srgbClr val="1B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062472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Data de Competencia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39112" y="6007608"/>
            <a:ext cx="1508760" cy="475488"/>
          </a:xfrm>
          <a:prstGeom prst="rect">
            <a:avLst/>
          </a:prstGeom>
          <a:solidFill>
            <a:srgbClr val="1B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84832" y="6062472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Filial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66744" y="6007608"/>
            <a:ext cx="1508760" cy="475488"/>
          </a:xfrm>
          <a:prstGeom prst="rect">
            <a:avLst/>
          </a:prstGeom>
          <a:solidFill>
            <a:srgbClr val="1B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12464" y="6062472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Conta Contabil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94376" y="6007608"/>
            <a:ext cx="1508760" cy="475488"/>
          </a:xfrm>
          <a:prstGeom prst="rect">
            <a:avLst/>
          </a:prstGeom>
          <a:solidFill>
            <a:srgbClr val="1B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40096" y="6062472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Recorrencia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22008" y="6007608"/>
            <a:ext cx="1508760" cy="475488"/>
          </a:xfrm>
          <a:prstGeom prst="rect">
            <a:avLst/>
          </a:prstGeom>
          <a:solidFill>
            <a:srgbClr val="1B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67728" y="6062472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Rateio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49640" y="6007608"/>
            <a:ext cx="1508760" cy="475488"/>
          </a:xfrm>
          <a:prstGeom prst="rect">
            <a:avLst/>
          </a:prstGeom>
          <a:solidFill>
            <a:srgbClr val="1B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95360" y="6062472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Exclusao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77272" y="6007608"/>
            <a:ext cx="1508760" cy="475488"/>
          </a:xfrm>
          <a:prstGeom prst="rect">
            <a:avLst/>
          </a:prstGeom>
          <a:solidFill>
            <a:srgbClr val="1B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222992" y="6062472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Multi-campo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52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4AC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F44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Perfis de Acesso e Permissoes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3749039" cy="5349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3749039" cy="594360"/>
          </a:xfrm>
          <a:prstGeom prst="rect">
            <a:avLst/>
          </a:prstGeom>
          <a:solidFill>
            <a:srgbClr val="F44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984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7A55"/>
                </a:solidFill>
              </a:rPr>
              <a:t>[v]  Acesso total a plataforma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87168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7A55"/>
                </a:solidFill>
              </a:rPr>
              <a:t>[v]  Gerencia usuarios e permissoes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08376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7A55"/>
                </a:solidFill>
              </a:rPr>
              <a:t>[v]  Solicita ajustes: Real, Orcado e A-1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29584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7A55"/>
                </a:solidFill>
              </a:rPr>
              <a:t>[v]  Aprova e rejeita solicitacoes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50791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7A55"/>
                </a:solidFill>
              </a:rPr>
              <a:t>[v]  Acessa painel administrativo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7200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7A55"/>
                </a:solidFill>
              </a:rPr>
              <a:t>[v]  Exporta banco de dados completo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93208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7A55"/>
                </a:solidFill>
              </a:rPr>
              <a:t>[v]  Restricoes granulares por marca/filial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59" y="1234440"/>
            <a:ext cx="3749039" cy="5349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59" y="1234440"/>
            <a:ext cx="3749039" cy="594360"/>
          </a:xfrm>
          <a:prstGeom prst="rect">
            <a:avLst/>
          </a:prstGeom>
          <a:solidFill>
            <a:srgbClr val="1B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12984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APROVADOR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196596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7A55"/>
                </a:solidFill>
              </a:rPr>
              <a:t>[v]  Visualiza todos os lancamentos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487168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7A55"/>
                </a:solidFill>
              </a:rPr>
              <a:t>[v]  Solicita ajustes apenas no Real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008376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7A55"/>
                </a:solidFill>
              </a:rPr>
              <a:t>[v]  Aprova e rejeita solicitacoes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529584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7A55"/>
                </a:solidFill>
              </a:rPr>
              <a:t>[v]  Acesso ao DRE Gerencial completo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050791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7A55"/>
                </a:solidFill>
              </a:rPr>
              <a:t>[v]  Exportacao Excel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57200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2020"/>
                </a:solidFill>
              </a:rPr>
              <a:t>[x]  Sem acesso ao painel admin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5093208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2020"/>
                </a:solidFill>
              </a:rPr>
              <a:t>[x]  Sem ajustes em Orcado e A-1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1234440"/>
            <a:ext cx="3749039" cy="5349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1234440"/>
            <a:ext cx="3749039" cy="59436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12984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USUARIO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196596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7A55"/>
                </a:solidFill>
              </a:rPr>
              <a:t>[v]  Visualiza lancamentos (Real)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487168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7A55"/>
                </a:solidFill>
              </a:rPr>
              <a:t>[v]  Solicita ajustes apenas no Real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008376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7A55"/>
                </a:solidFill>
              </a:rPr>
              <a:t>[v]  Acesso ao DRE Gerencial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529584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7A55"/>
                </a:solidFill>
              </a:rPr>
              <a:t>[v]  Exportacao Excel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050791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2020"/>
                </a:solidFill>
              </a:rPr>
              <a:t>[x]  Nao aprova solicitacoes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57200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2020"/>
                </a:solidFill>
              </a:rPr>
              <a:t>[x]  Sem acesso ao painel admin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5093208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2020"/>
                </a:solidFill>
              </a:rPr>
              <a:t>[x]  Sem ajustes em Orcado e A-1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6473952"/>
            <a:ext cx="11640312" cy="292608"/>
          </a:xfrm>
          <a:prstGeom prst="rect">
            <a:avLst/>
          </a:prstGeom>
          <a:solidFill>
            <a:srgbClr val="152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49224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AC8F4"/>
                </a:solidFill>
              </a:rPr>
              <a:t>Permissoes granulares: Admin pode restringir acesso por Marca, Filial, Conta Contabil e Tag01 por usuario.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2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4AC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73152" cy="5852160"/>
          </a:xfrm>
          <a:prstGeom prst="rect">
            <a:avLst/>
          </a:prstGeom>
          <a:solidFill>
            <a:srgbClr val="F44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6459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Arquitetura Tecnica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2743200" cy="3200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2743200" cy="457200"/>
          </a:xfrm>
          <a:prstGeom prst="rect">
            <a:avLst/>
          </a:prstGeom>
          <a:solidFill>
            <a:srgbClr val="1B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29844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810512"/>
            <a:ext cx="2514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AC8F4"/>
                </a:solidFill>
              </a:rPr>
              <a:t>React 18 + TypeScript + Vite</a:t>
            </a:r>
          </a:p>
          <a:p>
            <a:pPr algn="l"/>
            <a:r>
              <a:rPr sz="1050" b="0">
                <a:solidFill>
                  <a:srgbClr val="4AC8F4"/>
                </a:solidFill>
              </a:rPr>
              <a:t>Tailwind CSS (design system)</a:t>
            </a:r>
          </a:p>
          <a:p>
            <a:pPr algn="l"/>
            <a:r>
              <a:rPr sz="1050" b="0">
                <a:solidFill>
                  <a:srgbClr val="4AC8F4"/>
                </a:solidFill>
              </a:rPr>
              <a:t>ExcelJS (export formatado)</a:t>
            </a:r>
          </a:p>
          <a:p>
            <a:pPr algn="l"/>
            <a:r>
              <a:rPr sz="1050" b="0">
                <a:solidFill>
                  <a:srgbClr val="4AC8F4"/>
                </a:solidFill>
              </a:rPr>
              <a:t>Recharts / ECharts (graficos)</a:t>
            </a:r>
          </a:p>
          <a:p>
            <a:pPr algn="l"/>
            <a:r>
              <a:rPr sz="1050" b="0">
                <a:solidFill>
                  <a:srgbClr val="4AC8F4"/>
                </a:solidFill>
              </a:rPr>
              <a:t>Deploy: Vercel (CDN global)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5263" y="1234440"/>
            <a:ext cx="2743200" cy="3200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55263" y="1234440"/>
            <a:ext cx="2743200" cy="457200"/>
          </a:xfrm>
          <a:prstGeom prst="rect">
            <a:avLst/>
          </a:prstGeom>
          <a:solidFill>
            <a:srgbClr val="F44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2423" y="129844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AUTENTICACAO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3" y="1810512"/>
            <a:ext cx="2514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AC8F4"/>
                </a:solidFill>
              </a:rPr>
              <a:t>Firebase Authentication</a:t>
            </a:r>
          </a:p>
          <a:p>
            <a:pPr algn="l"/>
            <a:r>
              <a:rPr sz="1050" b="0">
                <a:solidFill>
                  <a:srgbClr val="4AC8F4"/>
                </a:solidFill>
              </a:rPr>
              <a:t>Google OAuth 2.0</a:t>
            </a:r>
          </a:p>
          <a:p>
            <a:pPr algn="l"/>
            <a:r>
              <a:rPr sz="1050" b="0">
                <a:solidFill>
                  <a:srgbClr val="4AC8F4"/>
                </a:solidFill>
              </a:rPr>
              <a:t>JWT Token</a:t>
            </a:r>
          </a:p>
          <a:p>
            <a:pPr algn="l"/>
            <a:r>
              <a:rPr sz="1050" b="0">
                <a:solidFill>
                  <a:srgbClr val="4AC8F4"/>
                </a:solidFill>
              </a:rPr>
              <a:t>Row Level Security (RLS)</a:t>
            </a:r>
          </a:p>
          <a:p>
            <a:pPr algn="l"/>
            <a:r>
              <a:rPr sz="1050" b="0">
                <a:solidFill>
                  <a:srgbClr val="4AC8F4"/>
                </a:solidFill>
              </a:rPr>
              <a:t>Perfis: admin, aprovador, usuario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7" y="1234440"/>
            <a:ext cx="2743200" cy="3200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7" y="1234440"/>
            <a:ext cx="2743200" cy="45720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129844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BANCO DE DADOS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1810512"/>
            <a:ext cx="2514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AC8F4"/>
                </a:solidFill>
              </a:rPr>
              <a:t>Supabase (PostgreSQL)</a:t>
            </a:r>
          </a:p>
          <a:p>
            <a:pPr algn="l"/>
            <a:r>
              <a:rPr sz="1050" b="0">
                <a:solidFill>
                  <a:srgbClr val="4AC8F4"/>
                </a:solidFill>
              </a:rPr>
              <a:t>RPC Functions (get_soma_tags)</a:t>
            </a:r>
          </a:p>
          <a:p>
            <a:pPr algn="l"/>
            <a:r>
              <a:rPr sz="1050" b="0">
                <a:solidFill>
                  <a:srgbClr val="4AC8F4"/>
                </a:solidFill>
              </a:rPr>
              <a:t>Materialized Views (dre_agg)</a:t>
            </a:r>
          </a:p>
          <a:p>
            <a:pPr algn="l"/>
            <a:r>
              <a:rPr sz="1050" b="0">
                <a:solidFill>
                  <a:srgbClr val="4AC8F4"/>
                </a:solidFill>
              </a:rPr>
              <a:t>RLS por perfil de usuario</a:t>
            </a:r>
          </a:p>
          <a:p>
            <a:pPr algn="l"/>
            <a:r>
              <a:rPr sz="1050" b="0">
                <a:solidFill>
                  <a:srgbClr val="4AC8F4"/>
                </a:solidFill>
              </a:rPr>
              <a:t>pg_cron: rateio a cada 15 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17152" y="1234440"/>
            <a:ext cx="2743200" cy="32004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17152" y="1234440"/>
            <a:ext cx="2743200" cy="45720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54312" y="129844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INTELIGENCIA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54312" y="1810512"/>
            <a:ext cx="25146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AC8F4"/>
                </a:solidFill>
              </a:rPr>
              <a:t>Anthropic Claude Haiku</a:t>
            </a:r>
          </a:p>
          <a:p>
            <a:pPr algn="l"/>
            <a:r>
              <a:rPr sz="1050" b="0">
                <a:solidFill>
                  <a:srgbClr val="4AC8F4"/>
                </a:solidFill>
              </a:rPr>
              <a:t>Narrativas do DRE em linguagem natural</a:t>
            </a:r>
          </a:p>
          <a:p>
            <a:pPr algn="l"/>
            <a:r>
              <a:rPr sz="1050" b="0">
                <a:solidFill>
                  <a:srgbClr val="4AC8F4"/>
                </a:solidFill>
              </a:rPr>
              <a:t>Contexto filtrado por sessao</a:t>
            </a:r>
          </a:p>
          <a:p>
            <a:pPr algn="l"/>
            <a:r>
              <a:rPr sz="1050" b="0">
                <a:solidFill>
                  <a:srgbClr val="4AC8F4"/>
                </a:solidFill>
              </a:rPr>
              <a:t>Historico salvo por hash de filtro</a:t>
            </a:r>
          </a:p>
          <a:p>
            <a:pPr algn="l"/>
            <a:r>
              <a:rPr sz="1050" b="0">
                <a:solidFill>
                  <a:srgbClr val="4AC8F4"/>
                </a:solidFill>
              </a:rPr>
              <a:t>API segura via backend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663440"/>
            <a:ext cx="11640312" cy="54864"/>
          </a:xfrm>
          <a:prstGeom prst="rect">
            <a:avLst/>
          </a:prstGeom>
          <a:solidFill>
            <a:srgbClr val="F44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4800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C8F4"/>
                </a:solidFill>
              </a:rPr>
              <a:t>FLUXO DE DADOS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212080"/>
            <a:ext cx="1737360" cy="141732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5376672"/>
            <a:ext cx="155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Planilha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ou ERP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66928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C8F4"/>
                </a:solidFill>
              </a:rPr>
              <a:t>&gt;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40279" y="5212080"/>
            <a:ext cx="1737360" cy="1417320"/>
          </a:xfrm>
          <a:prstGeom prst="rect">
            <a:avLst/>
          </a:prstGeom>
          <a:solidFill>
            <a:srgbClr val="1B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31720" y="5376672"/>
            <a:ext cx="155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Importacao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via Admin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59" y="566928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C8F4"/>
                </a:solidFill>
              </a:rPr>
              <a:t>&gt;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5212080"/>
            <a:ext cx="1737360" cy="141732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79" y="5376672"/>
            <a:ext cx="155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Supabase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566928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C8F4"/>
                </a:solidFill>
              </a:rPr>
              <a:t>&gt;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199" y="5212080"/>
            <a:ext cx="1737360" cy="141732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39" y="5376672"/>
            <a:ext cx="155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RPC / Views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Materializadas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566928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C8F4"/>
                </a:solidFill>
              </a:rPr>
              <a:t>&gt;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38160" y="5212080"/>
            <a:ext cx="1737360" cy="1417320"/>
          </a:xfrm>
          <a:prstGeom prst="rect">
            <a:avLst/>
          </a:prstGeom>
          <a:solidFill>
            <a:srgbClr val="1B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5376672"/>
            <a:ext cx="155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React UI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Filtros + DRE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21240" y="566928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C8F4"/>
                </a:solidFill>
              </a:rPr>
              <a:t>&gt;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104120" y="5212080"/>
            <a:ext cx="1737360" cy="1417320"/>
          </a:xfrm>
          <a:prstGeom prst="rect">
            <a:avLst/>
          </a:prstGeom>
          <a:solidFill>
            <a:srgbClr val="F44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95560" y="5376672"/>
            <a:ext cx="155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Usuario</a:t>
            </a:r>
          </a:p>
          <a:p>
            <a:pPr algn="ctr"/>
            <a:r>
              <a:rPr sz="1000" b="1">
                <a:solidFill>
                  <a:srgbClr val="FFFFFF"/>
                </a:solidFill>
              </a:rPr>
              <a:t>Final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2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1B7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83480"/>
            <a:ext cx="12188952" cy="73152"/>
          </a:xfrm>
          <a:prstGeom prst="rect">
            <a:avLst/>
          </a:prstGeom>
          <a:solidFill>
            <a:srgbClr val="4AC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73152" cy="3200400"/>
          </a:xfrm>
          <a:prstGeom prst="rect">
            <a:avLst/>
          </a:prstGeom>
          <a:solidFill>
            <a:srgbClr val="F44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9844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C8F4"/>
                </a:solidFill>
              </a:rPr>
              <a:t>RAIZ EDUCACAO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Uma plataforma.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4AC8F4"/>
                </a:solidFill>
              </a:rPr>
              <a:t>Toda a inteligencia financeira.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03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C8E0"/>
                </a:solidFill>
              </a:rPr>
              <a:t>Do lancamento a decisao, em tempo real.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23036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Acesse agora: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5778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C8F4"/>
                </a:solidFill>
              </a:rPr>
              <a:t>https://dre-raiz.vercel.app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DEE"/>
                </a:solidFill>
              </a:rPr>
              <a:t>Raiz Educacao S.A.  |  2026  |  Confidencial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